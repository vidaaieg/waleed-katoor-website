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embeddedFontLst>
    <p:embeddedFont>
      <p:font typeface="Manrope" panose="020B0604020202020204" charset="0"/>
      <p:regular r:id="rId28"/>
    </p:embeddedFont>
    <p:embeddedFont>
      <p:font typeface="Manrope Bold" panose="020B0604020202020204" charset="0"/>
      <p:regular r:id="rId29"/>
    </p:embeddedFont>
    <p:embeddedFont>
      <p:font typeface="Prata" panose="020B0604020202020204" charset="0"/>
      <p:regular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6941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86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544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3731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2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508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195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610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791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369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1408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520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538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595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021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38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4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svg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jpeg"/><Relationship Id="rId7" Type="http://schemas.openxmlformats.org/officeDocument/2006/relationships/image" Target="../media/image5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svg"/><Relationship Id="rId5" Type="http://schemas.openxmlformats.org/officeDocument/2006/relationships/image" Target="../media/image50.svg"/><Relationship Id="rId4" Type="http://schemas.openxmlformats.org/officeDocument/2006/relationships/image" Target="../media/image49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9.pn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svg"/><Relationship Id="rId5" Type="http://schemas.openxmlformats.org/officeDocument/2006/relationships/image" Target="../media/image55.svg"/><Relationship Id="rId4" Type="http://schemas.openxmlformats.org/officeDocument/2006/relationships/image" Target="../media/image5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69615"/>
            <a:ext cx="5588456" cy="34927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215309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Waleed Katoor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61475" y="4689773"/>
            <a:ext cx="1086874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Executive Longevity · Digital Growth Strategy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61475" y="5174159"/>
            <a:ext cx="1066059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16000"/>
              </a:lnSpc>
              <a:buNone/>
            </a:pPr>
            <a:r>
              <a:rPr lang="ar-SA" altLang="en-US" sz="1050" b="1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بتشتريها. بتكسبها.</a:t>
            </a:r>
            <a:endParaRPr lang="ar-SA" sz="1050" dirty="0"/>
          </a:p>
          <a:p>
            <a:pPr marL="0" indent="0" algn="r" rtl="1">
              <a:lnSpc>
                <a:spcPct val="116000"/>
              </a:lnSpc>
              <a:buNone/>
            </a:pPr>
            <a:r>
              <a:rPr lang="ar-SA" alt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"You cannot buy your health. You will earn it." — Waleed Katoor</a:t>
            </a:r>
            <a:endParaRPr lang="ar-SA" sz="1050" dirty="0"/>
          </a:p>
        </p:txBody>
      </p:sp>
      <p:sp>
        <p:nvSpPr>
          <p:cNvPr id="6" name="Shape 3"/>
          <p:cNvSpPr/>
          <p:nvPr/>
        </p:nvSpPr>
        <p:spPr>
          <a:xfrm>
            <a:off x="11511171" y="5059561"/>
            <a:ext cx="19050" cy="614363"/>
          </a:xfrm>
          <a:prstGeom prst="roundRect">
            <a:avLst>
              <a:gd name="adj" fmla="val 49999"/>
            </a:avLst>
          </a:prstGeom>
          <a:solidFill>
            <a:srgbClr val="84482D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5788521"/>
            <a:ext cx="10868745" cy="499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connected system that turns attention into booked calls, calls into clients, and clients into proof.</a:t>
            </a:r>
            <a:endParaRPr lang="en-US" sz="10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Prepared by Vida AI · Steven Ayman · Mario Wagyih Gomaa · Sameh Usama Shukry · 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11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plan on one page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09824"/>
            <a:ext cx="10868745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Waleed went from roughly 125 kg to athletic at 44 while running a director-level job and raising three daughters. He isn't selling fitness. He is </a:t>
            </a:r>
            <a:r>
              <a:rPr lang="en-US" sz="14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proof that a busy man can recover his health</a:t>
            </a: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Today that story doesn't turn into business: 1,209 posts, 1,232 followers, no website, no booking path, no client system. But the account is moving: the last 30 days ran at 1,023 median views against 827 before. </a:t>
            </a:r>
            <a:r>
              <a:rPr lang="en-US" sz="14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This is a build, not a rescue.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244751"/>
            <a:ext cx="5339820" cy="1391543"/>
          </a:xfrm>
          <a:prstGeom prst="roundRect">
            <a:avLst>
              <a:gd name="adj" fmla="val 2038"/>
            </a:avLst>
          </a:prstGeom>
          <a:solidFill>
            <a:srgbClr val="404245"/>
          </a:solidFill>
          <a:ln/>
        </p:spPr>
      </p:sp>
      <p:sp>
        <p:nvSpPr>
          <p:cNvPr id="5" name="Text 3"/>
          <p:cNvSpPr/>
          <p:nvPr/>
        </p:nvSpPr>
        <p:spPr>
          <a:xfrm>
            <a:off x="850482" y="3433763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Social Media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0482" y="3842445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Creates demand: 4 Reels a week + a Saturday carousel, Arabic-first, him on camera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0301" y="3244751"/>
            <a:ext cx="5339919" cy="1391543"/>
          </a:xfrm>
          <a:prstGeom prst="roundRect">
            <a:avLst>
              <a:gd name="adj" fmla="val 2038"/>
            </a:avLst>
          </a:prstGeom>
          <a:solidFill>
            <a:srgbClr val="404245"/>
          </a:solidFill>
          <a:ln/>
        </p:spPr>
      </p:sp>
      <p:sp>
        <p:nvSpPr>
          <p:cNvPr id="8" name="Text 6"/>
          <p:cNvSpPr/>
          <p:nvPr/>
        </p:nvSpPr>
        <p:spPr>
          <a:xfrm>
            <a:off x="6379308" y="3433763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Website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79308" y="3842445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Converts: one page, eight sections, a calendar wired into automation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4825305"/>
            <a:ext cx="5339820" cy="1391543"/>
          </a:xfrm>
          <a:prstGeom prst="roundRect">
            <a:avLst>
              <a:gd name="adj" fmla="val 2038"/>
            </a:avLst>
          </a:prstGeom>
          <a:solidFill>
            <a:srgbClr val="404245"/>
          </a:solidFill>
          <a:ln/>
        </p:spPr>
      </p:sp>
      <p:sp>
        <p:nvSpPr>
          <p:cNvPr id="11" name="Text 9"/>
          <p:cNvSpPr/>
          <p:nvPr/>
        </p:nvSpPr>
        <p:spPr>
          <a:xfrm>
            <a:off x="850482" y="5014317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CRM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50482" y="5422999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Runs the coaching: dashboard, client profiles, progress, payments, voice notes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90301" y="4825305"/>
            <a:ext cx="5339919" cy="1391543"/>
          </a:xfrm>
          <a:prstGeom prst="roundRect">
            <a:avLst>
              <a:gd name="adj" fmla="val 2038"/>
            </a:avLst>
          </a:prstGeom>
          <a:solidFill>
            <a:srgbClr val="404245"/>
          </a:solidFill>
          <a:ln/>
        </p:spPr>
      </p:sp>
      <p:sp>
        <p:nvSpPr>
          <p:cNvPr id="14" name="Text 12"/>
          <p:cNvSpPr/>
          <p:nvPr/>
        </p:nvSpPr>
        <p:spPr>
          <a:xfrm>
            <a:off x="6379308" y="5014317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AI Automation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79308" y="5422999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Removes the admin: nine client automations + a leads engine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188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Five decisions that shape everything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980380"/>
            <a:ext cx="10868745" cy="64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8513" y="1202134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65295" y="1100534"/>
            <a:ext cx="102447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Proof, not coach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65295" y="1305024"/>
            <a:ext cx="10244774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 shares what worked on him and sends people to specialists for the details.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86520"/>
            <a:ext cx="10868745" cy="6450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8513" y="1908274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65295" y="1806674"/>
            <a:ext cx="102447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He speaks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65295" y="2011164"/>
            <a:ext cx="10244774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Reels where he talks earn nearly twice the views (1,622 vs 822) and 3× the likes.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92660"/>
            <a:ext cx="10868745" cy="6450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8513" y="2614414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165295" y="2512814"/>
            <a:ext cx="102447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Arabic first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1165295" y="2717304"/>
            <a:ext cx="10244774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 growth audience thinks in Arabic. Captions burned into every video.</a:t>
            </a:r>
            <a:endParaRPr lang="en-US" sz="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98800"/>
            <a:ext cx="10868745" cy="6450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8513" y="3320554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165295" y="3218954"/>
            <a:ext cx="102447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Client enters the data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1165295" y="3423444"/>
            <a:ext cx="10244774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Forms and WhatsApp do the typing — not Waleed.</a:t>
            </a:r>
            <a:endParaRPr lang="en-US" sz="8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804940"/>
            <a:ext cx="10868745" cy="64502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08513" y="4026694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5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1165295" y="3925094"/>
            <a:ext cx="102447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Channels before automation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65295" y="4129584"/>
            <a:ext cx="10244774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WhatsApp, Instagram and Facebook are set up properly first.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1605815" y="4572397"/>
            <a:ext cx="3507494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1,500</a:t>
            </a:r>
            <a:endParaRPr lang="en-US" sz="2750" dirty="0"/>
          </a:p>
        </p:txBody>
      </p:sp>
      <p:sp>
        <p:nvSpPr>
          <p:cNvPr id="24" name="Text 17"/>
          <p:cNvSpPr/>
          <p:nvPr/>
        </p:nvSpPr>
        <p:spPr>
          <a:xfrm>
            <a:off x="661475" y="5026720"/>
            <a:ext cx="5396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Median views target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661475" y="5231209"/>
            <a:ext cx="5396174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Up from 859 in 30 days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7078386" y="4572397"/>
            <a:ext cx="3507494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65%</a:t>
            </a:r>
            <a:endParaRPr lang="en-US" sz="2750" dirty="0"/>
          </a:p>
        </p:txBody>
      </p:sp>
      <p:sp>
        <p:nvSpPr>
          <p:cNvPr id="27" name="Text 20"/>
          <p:cNvSpPr/>
          <p:nvPr/>
        </p:nvSpPr>
        <p:spPr>
          <a:xfrm>
            <a:off x="6134046" y="5026720"/>
            <a:ext cx="5396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Talking-head Reels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134046" y="5231209"/>
            <a:ext cx="5396174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Up from 13% of output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1605815" y="5542062"/>
            <a:ext cx="3507494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&lt;10%</a:t>
            </a:r>
            <a:endParaRPr lang="en-US" sz="2750" dirty="0"/>
          </a:p>
        </p:txBody>
      </p:sp>
      <p:sp>
        <p:nvSpPr>
          <p:cNvPr id="30" name="Text 23"/>
          <p:cNvSpPr/>
          <p:nvPr/>
        </p:nvSpPr>
        <p:spPr>
          <a:xfrm>
            <a:off x="661475" y="5996384"/>
            <a:ext cx="5396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Zero-comment Reels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661475" y="6200874"/>
            <a:ext cx="5396174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Down from 34%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7078386" y="5542062"/>
            <a:ext cx="3507494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1.0</a:t>
            </a:r>
            <a:endParaRPr lang="en-US" sz="2750" dirty="0"/>
          </a:p>
        </p:txBody>
      </p:sp>
      <p:sp>
        <p:nvSpPr>
          <p:cNvPr id="33" name="Text 26"/>
          <p:cNvSpPr/>
          <p:nvPr/>
        </p:nvSpPr>
        <p:spPr>
          <a:xfrm>
            <a:off x="6134046" y="5996384"/>
            <a:ext cx="5396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Following:follower ratio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6134046" y="6200874"/>
            <a:ext cx="5396174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Down from 1.71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9444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Where we start: the audit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85081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Audit of 85 Reels, 22 Nov 2025 – 12 Sep 2026.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3285" y="1673920"/>
            <a:ext cx="2650662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1,232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61475" y="2292251"/>
            <a:ext cx="35342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Followers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1475" y="2577405"/>
            <a:ext cx="353428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2,107 following — ratio 1.71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70417" y="1673920"/>
            <a:ext cx="2650761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1,209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4328607" y="2292251"/>
            <a:ext cx="35343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Posts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328607" y="2577405"/>
            <a:ext cx="353438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website, no booking path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37649" y="1673920"/>
            <a:ext cx="2650761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859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7995839" y="2292251"/>
            <a:ext cx="35343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Median views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995839" y="2577405"/>
            <a:ext cx="353438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~0.70× his follower count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1475" y="2895402"/>
            <a:ext cx="10868745" cy="471190"/>
          </a:xfrm>
          <a:prstGeom prst="roundRect">
            <a:avLst>
              <a:gd name="adj" fmla="val 4513"/>
            </a:avLst>
          </a:prstGeom>
          <a:solidFill>
            <a:srgbClr val="4B3F02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56" y="3052763"/>
            <a:ext cx="177200" cy="1416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22037" y="3037086"/>
            <a:ext cx="108760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Creator account bio link points to one YouTube episode. Name field is English only — </a:t>
            </a:r>
            <a:r>
              <a:rPr lang="en-US" sz="110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no one searching in Arabic can find him.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1475" y="3526036"/>
            <a:ext cx="108687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finding that drives the content plan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906937"/>
          <a:ext cx="9143771" cy="914400"/>
        </p:xfrm>
        <a:graphic>
          <a:graphicData uri="http://schemas.openxmlformats.org/drawingml/2006/table">
            <a:tbl>
              <a:tblPr/>
              <a:tblGrid>
                <a:gridCol w="2717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17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He speaks on camera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Montage over a track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Someone else's audio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Share of output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E684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13%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72%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15%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Median views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E684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1,622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822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683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Median likes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E684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57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15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14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7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Zero-comment rate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E684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36%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46%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61475" y="5757267"/>
            <a:ext cx="10868745" cy="471190"/>
          </a:xfrm>
          <a:prstGeom prst="roundRect">
            <a:avLst>
              <a:gd name="adj" fmla="val 4513"/>
            </a:avLst>
          </a:prstGeom>
          <a:solidFill>
            <a:srgbClr val="450707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56" y="5914628"/>
            <a:ext cx="177200" cy="1416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22037" y="5898952"/>
            <a:ext cx="108760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87% of his production effort goes into the formats that perform worst.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607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the data says to do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540371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Content Pillars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78323"/>
            <a:ext cx="4704141" cy="33869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9659" y="1540371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Tactical Decisions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659" y="1978323"/>
            <a:ext cx="2536861" cy="1831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74963" y="2167434"/>
            <a:ext cx="208245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Post at 20:00 KSA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574963" y="2586236"/>
            <a:ext cx="2082450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19:00–21:00 performs best. After midnight is the worst slot (334 median views).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9610" y="1978323"/>
            <a:ext cx="2536960" cy="18312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64914" y="2167434"/>
            <a:ext cx="20825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60–120s length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9264914" y="2586236"/>
            <a:ext cx="208254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Best engagement at 3.8%. Teaching Reels run 45–90s, nothing under 10s.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9659" y="3962698"/>
            <a:ext cx="2536861" cy="20969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74963" y="4151809"/>
            <a:ext cx="2082450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Friday &amp; Tuesday anchor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574963" y="4836319"/>
            <a:ext cx="2082450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Friday (1,163) and Tuesday (1,082) are anchors; Sunday (579) tested for 4 weeks.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99610" y="3962698"/>
            <a:ext cx="2536960" cy="20969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264914" y="4151809"/>
            <a:ext cx="20825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5 targeted hashtags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9264914" y="4570611"/>
            <a:ext cx="208254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Used on only 2 of 85 Reels. Five targeted tags per post from now 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2802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Brand foundation: executive longevity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681758"/>
            <a:ext cx="2522375" cy="2210495"/>
          </a:xfrm>
          <a:prstGeom prst="roundRect">
            <a:avLst>
              <a:gd name="adj" fmla="val 1219"/>
            </a:avLst>
          </a:prstGeom>
          <a:solidFill>
            <a:srgbClr val="404245"/>
          </a:solidFill>
          <a:ln/>
        </p:spPr>
      </p:sp>
      <p:sp>
        <p:nvSpPr>
          <p:cNvPr id="4" name="Text 2"/>
          <p:cNvSpPr/>
          <p:nvPr/>
        </p:nvSpPr>
        <p:spPr>
          <a:xfrm>
            <a:off x="840957" y="1861245"/>
            <a:ext cx="21634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Where he is now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40957" y="2312293"/>
            <a:ext cx="2163411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fitness creator competing with 25-year-old coaches on looks and volume.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54403" y="1681758"/>
            <a:ext cx="2522375" cy="2210495"/>
          </a:xfrm>
          <a:prstGeom prst="roundRect">
            <a:avLst>
              <a:gd name="adj" fmla="val 1219"/>
            </a:avLst>
          </a:prstGeom>
          <a:solidFill>
            <a:srgbClr val="404245"/>
          </a:solidFill>
          <a:ln/>
        </p:spPr>
      </p:sp>
      <p:sp>
        <p:nvSpPr>
          <p:cNvPr id="7" name="Text 5"/>
          <p:cNvSpPr/>
          <p:nvPr/>
        </p:nvSpPr>
        <p:spPr>
          <a:xfrm>
            <a:off x="3533885" y="1861245"/>
            <a:ext cx="21634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Where he goes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3533885" y="2312293"/>
            <a:ext cx="2163411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Executive longevity. Health as the asset that protects the career, the marriage and the years ahead.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1475" y="4062809"/>
            <a:ext cx="2522375" cy="1930400"/>
          </a:xfrm>
          <a:prstGeom prst="roundRect">
            <a:avLst>
              <a:gd name="adj" fmla="val 1395"/>
            </a:avLst>
          </a:prstGeom>
          <a:solidFill>
            <a:srgbClr val="404245"/>
          </a:solidFill>
          <a:ln/>
        </p:spPr>
      </p:sp>
      <p:sp>
        <p:nvSpPr>
          <p:cNvPr id="10" name="Text 8"/>
          <p:cNvSpPr/>
          <p:nvPr/>
        </p:nvSpPr>
        <p:spPr>
          <a:xfrm>
            <a:off x="840957" y="4242296"/>
            <a:ext cx="21634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enemy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40957" y="4693345"/>
            <a:ext cx="2163411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belief that success costs you your body, and that this is a fair, temporary price.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54403" y="4062809"/>
            <a:ext cx="2522375" cy="1930400"/>
          </a:xfrm>
          <a:prstGeom prst="roundRect">
            <a:avLst>
              <a:gd name="adj" fmla="val 1395"/>
            </a:avLst>
          </a:prstGeom>
          <a:solidFill>
            <a:srgbClr val="404245"/>
          </a:solidFill>
          <a:ln/>
        </p:spPr>
      </p:sp>
      <p:sp>
        <p:nvSpPr>
          <p:cNvPr id="13" name="Text 11"/>
          <p:cNvSpPr/>
          <p:nvPr/>
        </p:nvSpPr>
        <p:spPr>
          <a:xfrm>
            <a:off x="3533885" y="4242296"/>
            <a:ext cx="21634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His role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3533885" y="4693345"/>
            <a:ext cx="2163411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Proof, not coach. "I am not a specialist. Go to a specialist for the details."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91889" y="1489869"/>
            <a:ext cx="5474059" cy="4695230"/>
          </a:xfrm>
          <a:prstGeom prst="roundRect">
            <a:avLst>
              <a:gd name="adj" fmla="val 574"/>
            </a:avLst>
          </a:prstGeom>
          <a:solidFill>
            <a:srgbClr val="84482D"/>
          </a:solidFill>
          <a:ln/>
        </p:spPr>
      </p:sp>
      <p:sp>
        <p:nvSpPr>
          <p:cNvPr id="16" name="Text 14"/>
          <p:cNvSpPr/>
          <p:nvPr/>
        </p:nvSpPr>
        <p:spPr>
          <a:xfrm>
            <a:off x="6371371" y="1660426"/>
            <a:ext cx="51150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Positioning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371371" y="2111474"/>
            <a:ext cx="5115095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Arab professional man past forty who has built everything except his health, Waleed Katoor is the proof that it is recoverable: a business director who went from 125 kg to athletic at 44 and explains exactly how, in the language his audience thinks in.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71371" y="3748683"/>
            <a:ext cx="5115095" cy="254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71371" y="4010819"/>
            <a:ext cx="51150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brand line, in his words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5761786" y="4636691"/>
            <a:ext cx="545540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فيك تشتري صحتك. رح تكسبها. ولما تكسبها، بتصير ملك الدنيا.</a:t>
            </a:r>
            <a:endParaRPr lang="ar-SA" sz="1400" dirty="0"/>
          </a:p>
        </p:txBody>
      </p:sp>
      <p:sp>
        <p:nvSpPr>
          <p:cNvPr id="21" name="Shape 19"/>
          <p:cNvSpPr/>
          <p:nvPr/>
        </p:nvSpPr>
        <p:spPr>
          <a:xfrm>
            <a:off x="11461066" y="4483199"/>
            <a:ext cx="25399" cy="587077"/>
          </a:xfrm>
          <a:prstGeom prst="roundRect">
            <a:avLst>
              <a:gd name="adj" fmla="val 50001"/>
            </a:avLst>
          </a:prstGeom>
          <a:solidFill>
            <a:srgbClr val="84482D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319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Who we talk to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1395214"/>
            <a:ext cx="1194961" cy="215305"/>
          </a:xfrm>
          <a:prstGeom prst="roundRect">
            <a:avLst>
              <a:gd name="adj" fmla="val 7901"/>
            </a:avLst>
          </a:prstGeom>
          <a:solidFill>
            <a:srgbClr val="391F13"/>
          </a:solidFill>
          <a:ln/>
        </p:spPr>
      </p:sp>
      <p:sp>
        <p:nvSpPr>
          <p:cNvPr id="4" name="Text 2"/>
          <p:cNvSpPr/>
          <p:nvPr/>
        </p:nvSpPr>
        <p:spPr>
          <a:xfrm>
            <a:off x="746503" y="1437680"/>
            <a:ext cx="163448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PRIMARY AUDIENCE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1475" y="1652984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"The 2AM email man"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1475" y="1980704"/>
            <a:ext cx="5261439" cy="1376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Men 38–55 in Riyadh, Jeddah, Dubai, Doha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Director level or business owner, 90–130 kg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Has started and quit three or more times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Has money but no time, and stopped believing any plan fits his schedule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to four children; a recent photo made him uncomfortable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Consumes in Arabic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1475" y="3476923"/>
            <a:ext cx="5261439" cy="659011"/>
          </a:xfrm>
          <a:prstGeom prst="roundRect">
            <a:avLst>
              <a:gd name="adj" fmla="val 3227"/>
            </a:avLst>
          </a:prstGeom>
          <a:solidFill>
            <a:srgbClr val="5F342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56" y="3646984"/>
            <a:ext cx="177200" cy="1416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2037" y="3607991"/>
            <a:ext cx="465919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Aim at one man: 42, 110 kg, works too much, two kids, tried three times and quit.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1475" y="4255492"/>
            <a:ext cx="1379602" cy="215305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8448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6503" y="4297958"/>
            <a:ext cx="181913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SECONDARY AUDIENCE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61475" y="4513263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Their wives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61475" y="4840982"/>
            <a:ext cx="526143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Family content has a 1,913 median against 859 overall. Women share health content about their husbands.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1475" y="5357416"/>
            <a:ext cx="984424" cy="215305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8448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6503" y="5399881"/>
            <a:ext cx="142395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EXPLICITLY NOT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61475" y="5692279"/>
            <a:ext cx="526143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Young men chasing aesthetics, competitive lifters, anyone who wants a fast transformation.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836" y="1757164"/>
            <a:ext cx="3946029" cy="39461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520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Voice and visual identity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650008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Four voice traits, all from his own transcripts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22277"/>
            <a:ext cx="2564443" cy="15870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7928" y="2192536"/>
            <a:ext cx="2147735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Brotherly, not authoritative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07928" y="2785963"/>
            <a:ext cx="214773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First person, "this is what I did"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6862" y="2022277"/>
            <a:ext cx="2564542" cy="15870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93316" y="2192536"/>
            <a:ext cx="2147834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Specific over inspirational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3593316" y="2785963"/>
            <a:ext cx="2147834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125 kg, 44, 6:45am, the 4th-day rule. No number, not finished.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730228"/>
            <a:ext cx="2564443" cy="11516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7928" y="3900488"/>
            <a:ext cx="2147735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Arabic first, English where it lands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907928" y="4493915"/>
            <a:ext cx="214773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 code-switches naturally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6862" y="3730228"/>
            <a:ext cx="2564542" cy="11516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93316" y="3900488"/>
            <a:ext cx="214783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Never shames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3593316" y="4257675"/>
            <a:ext cx="2147834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 talks about his 125 kg self with compassion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6286640" y="1650008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Visual Identity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286640" y="2007195"/>
            <a:ext cx="524993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Type: </a:t>
            </a:r>
            <a:r>
              <a:rPr lang="en-US" sz="11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Oswald + Archivo</a:t>
            </a: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(English) · </a:t>
            </a:r>
            <a:r>
              <a:rPr lang="en-US" sz="11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Tajawal</a:t>
            </a: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(Arabic) · </a:t>
            </a:r>
            <a:r>
              <a:rPr lang="en-US" sz="11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JetBrains Mono</a:t>
            </a: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(data). Reel covers are stills from the Reel, face visible. Never stock.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61475" y="5153918"/>
            <a:ext cx="2626453" cy="828873"/>
          </a:xfrm>
          <a:prstGeom prst="roundRect">
            <a:avLst>
              <a:gd name="adj" fmla="val 2737"/>
            </a:avLst>
          </a:prstGeom>
          <a:solidFill>
            <a:srgbClr val="100C09"/>
          </a:solidFill>
          <a:ln/>
        </p:spPr>
      </p:sp>
      <p:sp>
        <p:nvSpPr>
          <p:cNvPr id="19" name="Text 13"/>
          <p:cNvSpPr/>
          <p:nvPr/>
        </p:nvSpPr>
        <p:spPr>
          <a:xfrm>
            <a:off x="812680" y="5305127"/>
            <a:ext cx="232404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Forge Black #100C09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12680" y="5613896"/>
            <a:ext cx="232404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Backgrounds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3408873" y="5153918"/>
            <a:ext cx="2626453" cy="828873"/>
          </a:xfrm>
          <a:prstGeom prst="roundRect">
            <a:avLst>
              <a:gd name="adj" fmla="val 2737"/>
            </a:avLst>
          </a:prstGeom>
          <a:solidFill>
            <a:srgbClr val="D4552A"/>
          </a:solidFill>
          <a:ln/>
        </p:spPr>
      </p:sp>
      <p:sp>
        <p:nvSpPr>
          <p:cNvPr id="22" name="Text 16"/>
          <p:cNvSpPr/>
          <p:nvPr/>
        </p:nvSpPr>
        <p:spPr>
          <a:xfrm>
            <a:off x="3560078" y="5305127"/>
            <a:ext cx="232404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Ember #D4552A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3560078" y="5613896"/>
            <a:ext cx="232404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Hooks, key numbers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156270" y="5153918"/>
            <a:ext cx="2626453" cy="828873"/>
          </a:xfrm>
          <a:prstGeom prst="roundRect">
            <a:avLst>
              <a:gd name="adj" fmla="val 2737"/>
            </a:avLst>
          </a:prstGeom>
          <a:solidFill>
            <a:srgbClr val="B8935A"/>
          </a:solidFill>
          <a:ln/>
        </p:spPr>
      </p:sp>
      <p:sp>
        <p:nvSpPr>
          <p:cNvPr id="25" name="Text 19"/>
          <p:cNvSpPr/>
          <p:nvPr/>
        </p:nvSpPr>
        <p:spPr>
          <a:xfrm>
            <a:off x="6307476" y="5305127"/>
            <a:ext cx="232404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Brass #B8935A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6307476" y="5613896"/>
            <a:ext cx="232404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Credentials only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8903668" y="5153918"/>
            <a:ext cx="2626552" cy="828873"/>
          </a:xfrm>
          <a:prstGeom prst="roundRect">
            <a:avLst>
              <a:gd name="adj" fmla="val 2737"/>
            </a:avLst>
          </a:prstGeom>
          <a:solidFill>
            <a:srgbClr val="5E6B72"/>
          </a:solidFill>
          <a:ln/>
        </p:spPr>
      </p:sp>
      <p:sp>
        <p:nvSpPr>
          <p:cNvPr id="28" name="Text 22"/>
          <p:cNvSpPr/>
          <p:nvPr/>
        </p:nvSpPr>
        <p:spPr>
          <a:xfrm>
            <a:off x="9054873" y="5305127"/>
            <a:ext cx="232414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Steel #5E6B72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9054873" y="5613896"/>
            <a:ext cx="232414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Secondary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233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connected system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029395"/>
            <a:ext cx="1147833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workstream matters because of what it hands to the next.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777" y="1256506"/>
            <a:ext cx="6818142" cy="33327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2996" y="2403196"/>
            <a:ext cx="1589487" cy="19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Content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615094" y="1640224"/>
            <a:ext cx="1589486" cy="19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Engage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99131" y="3208556"/>
            <a:ext cx="1589486" cy="19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Lead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980078" y="3985658"/>
            <a:ext cx="1589486" cy="19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Website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1475" y="4694535"/>
            <a:ext cx="1086874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Week 1 channel build — before any automation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1475" y="4979690"/>
            <a:ext cx="10868745" cy="1348978"/>
          </a:xfrm>
          <a:prstGeom prst="roundRect">
            <a:avLst>
              <a:gd name="adj" fmla="val 1281"/>
            </a:avLst>
          </a:prstGeom>
          <a:solidFill>
            <a:srgbClr val="404245"/>
          </a:solidFill>
          <a:ln/>
        </p:spPr>
      </p:sp>
      <p:sp>
        <p:nvSpPr>
          <p:cNvPr id="11" name="Shape 8"/>
          <p:cNvSpPr/>
          <p:nvPr/>
        </p:nvSpPr>
        <p:spPr>
          <a:xfrm>
            <a:off x="661475" y="4979690"/>
            <a:ext cx="3622882" cy="748605"/>
          </a:xfrm>
          <a:custGeom>
            <a:avLst/>
            <a:gdLst/>
            <a:ahLst/>
            <a:cxnLst/>
            <a:rect l="l" t="t" r="r" b="b"/>
            <a:pathLst>
              <a:path w="3622882" h="748605">
                <a:moveTo>
                  <a:pt x="14398" y="0"/>
                </a:moveTo>
                <a:lnTo>
                  <a:pt x="3622882" y="0"/>
                </a:lnTo>
                <a:lnTo>
                  <a:pt x="3622882" y="748605"/>
                </a:lnTo>
                <a:lnTo>
                  <a:pt x="0" y="748605"/>
                </a:lnTo>
                <a:lnTo>
                  <a:pt x="0" y="14398"/>
                </a:lnTo>
                <a:arcTo wR="14398" hR="14398" stAng="10800000" swAng="5400000"/>
                <a:close/>
              </a:path>
            </a:pathLst>
          </a:custGeom>
          <a:solidFill>
            <a:srgbClr val="404245"/>
          </a:solidFill>
          <a:ln/>
        </p:spPr>
      </p:sp>
      <p:sp>
        <p:nvSpPr>
          <p:cNvPr id="12" name="Text 9"/>
          <p:cNvSpPr/>
          <p:nvPr/>
        </p:nvSpPr>
        <p:spPr>
          <a:xfrm>
            <a:off x="776566" y="5094784"/>
            <a:ext cx="3392700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WhatsApp Business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6566" y="5316736"/>
            <a:ext cx="339270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Cloud API with Meta-approved templates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284357" y="4979690"/>
            <a:ext cx="3622882" cy="748605"/>
          </a:xfrm>
          <a:prstGeom prst="rect">
            <a:avLst/>
          </a:prstGeom>
          <a:solidFill>
            <a:srgbClr val="404245"/>
          </a:solidFill>
          <a:ln/>
        </p:spPr>
      </p:sp>
      <p:sp>
        <p:nvSpPr>
          <p:cNvPr id="15" name="Shape 12"/>
          <p:cNvSpPr/>
          <p:nvPr/>
        </p:nvSpPr>
        <p:spPr>
          <a:xfrm>
            <a:off x="4284357" y="4979690"/>
            <a:ext cx="12700" cy="748605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16" name="Text 13"/>
          <p:cNvSpPr/>
          <p:nvPr/>
        </p:nvSpPr>
        <p:spPr>
          <a:xfrm>
            <a:off x="4399448" y="5094784"/>
            <a:ext cx="3392700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399448" y="5316736"/>
            <a:ext cx="339270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Professional account linked to Meta Business Suite, Arabic name field, new bio, website link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907239" y="4979690"/>
            <a:ext cx="3622882" cy="748605"/>
          </a:xfrm>
          <a:custGeom>
            <a:avLst/>
            <a:gdLst/>
            <a:ahLst/>
            <a:cxnLst/>
            <a:rect l="l" t="t" r="r" b="b"/>
            <a:pathLst>
              <a:path w="3622882" h="748605">
                <a:moveTo>
                  <a:pt x="0" y="0"/>
                </a:moveTo>
                <a:lnTo>
                  <a:pt x="3608484" y="0"/>
                </a:lnTo>
                <a:arcTo wR="14398" hR="14398" stAng="16200000" swAng="5400000"/>
                <a:lnTo>
                  <a:pt x="3622882" y="748605"/>
                </a:lnTo>
                <a:lnTo>
                  <a:pt x="0" y="748605"/>
                </a:lnTo>
                <a:lnTo>
                  <a:pt x="0" y="0"/>
                </a:lnTo>
                <a:close/>
              </a:path>
            </a:pathLst>
          </a:custGeom>
          <a:solidFill>
            <a:srgbClr val="404245"/>
          </a:solidFill>
          <a:ln/>
        </p:spPr>
      </p:sp>
      <p:sp>
        <p:nvSpPr>
          <p:cNvPr id="19" name="Shape 16"/>
          <p:cNvSpPr/>
          <p:nvPr/>
        </p:nvSpPr>
        <p:spPr>
          <a:xfrm>
            <a:off x="7907239" y="4979690"/>
            <a:ext cx="12700" cy="748605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20" name="Text 17"/>
          <p:cNvSpPr/>
          <p:nvPr/>
        </p:nvSpPr>
        <p:spPr>
          <a:xfrm>
            <a:off x="8022330" y="5094784"/>
            <a:ext cx="3392700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Facebook Page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22330" y="5316736"/>
            <a:ext cx="339270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 cross-posting enabled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61475" y="5728295"/>
            <a:ext cx="5434273" cy="600373"/>
          </a:xfrm>
          <a:custGeom>
            <a:avLst/>
            <a:gdLst/>
            <a:ahLst/>
            <a:cxnLst/>
            <a:rect l="l" t="t" r="r" b="b"/>
            <a:pathLst>
              <a:path w="5434273" h="600373">
                <a:moveTo>
                  <a:pt x="0" y="0"/>
                </a:moveTo>
                <a:lnTo>
                  <a:pt x="5434273" y="0"/>
                </a:lnTo>
                <a:lnTo>
                  <a:pt x="5434273" y="600373"/>
                </a:lnTo>
                <a:lnTo>
                  <a:pt x="14398" y="600373"/>
                </a:lnTo>
                <a:arcTo wR="14398" hR="14398" stAng="5400000" swAng="5400000"/>
                <a:lnTo>
                  <a:pt x="0" y="0"/>
                </a:lnTo>
                <a:close/>
              </a:path>
            </a:pathLst>
          </a:custGeom>
          <a:solidFill>
            <a:srgbClr val="404245"/>
          </a:solidFill>
          <a:ln/>
        </p:spPr>
      </p:sp>
      <p:sp>
        <p:nvSpPr>
          <p:cNvPr id="23" name="Shape 20"/>
          <p:cNvSpPr/>
          <p:nvPr/>
        </p:nvSpPr>
        <p:spPr>
          <a:xfrm>
            <a:off x="661475" y="5728295"/>
            <a:ext cx="5434273" cy="12700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24" name="Text 21"/>
          <p:cNvSpPr/>
          <p:nvPr/>
        </p:nvSpPr>
        <p:spPr>
          <a:xfrm>
            <a:off x="776566" y="5843389"/>
            <a:ext cx="5204092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Telegram Bot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6566" y="6065341"/>
            <a:ext cx="5204092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Private bot for Waleed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095748" y="5728295"/>
            <a:ext cx="5434373" cy="600373"/>
          </a:xfrm>
          <a:custGeom>
            <a:avLst/>
            <a:gdLst/>
            <a:ahLst/>
            <a:cxnLst/>
            <a:rect l="l" t="t" r="r" b="b"/>
            <a:pathLst>
              <a:path w="5434373" h="600373">
                <a:moveTo>
                  <a:pt x="0" y="0"/>
                </a:moveTo>
                <a:lnTo>
                  <a:pt x="5434373" y="0"/>
                </a:lnTo>
                <a:lnTo>
                  <a:pt x="5434373" y="585974"/>
                </a:lnTo>
                <a:arcTo wR="14398" hR="14398" stAng="0" swAng="5400000"/>
                <a:lnTo>
                  <a:pt x="0" y="600373"/>
                </a:lnTo>
                <a:lnTo>
                  <a:pt x="0" y="0"/>
                </a:lnTo>
                <a:close/>
              </a:path>
            </a:pathLst>
          </a:custGeom>
          <a:solidFill>
            <a:srgbClr val="404245"/>
          </a:solidFill>
          <a:ln/>
        </p:spPr>
      </p:sp>
      <p:sp>
        <p:nvSpPr>
          <p:cNvPr id="27" name="Shape 24"/>
          <p:cNvSpPr/>
          <p:nvPr/>
        </p:nvSpPr>
        <p:spPr>
          <a:xfrm>
            <a:off x="6095748" y="5728295"/>
            <a:ext cx="12700" cy="600373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28" name="Shape 25"/>
          <p:cNvSpPr/>
          <p:nvPr/>
        </p:nvSpPr>
        <p:spPr>
          <a:xfrm>
            <a:off x="6095748" y="5728295"/>
            <a:ext cx="5434373" cy="12700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29" name="Text 26"/>
          <p:cNvSpPr/>
          <p:nvPr/>
        </p:nvSpPr>
        <p:spPr>
          <a:xfrm>
            <a:off x="6210839" y="5843389"/>
            <a:ext cx="5204191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Domain &amp; Tech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210839" y="6065341"/>
            <a:ext cx="520419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SSL, analytics and Meta Pixel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601166"/>
            <a:ext cx="5326822" cy="33292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06935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Website: one page, one job, book the call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61475" y="4621709"/>
            <a:ext cx="10868745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Almost everyone arrives from the Instagram bio or a DM, on a phone, curious but not convinced. In about a minute the page has to prove the story is real, make him feel it was written for him, and put a calendar in front of him.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61475" y="5085854"/>
            <a:ext cx="3561170" cy="886718"/>
          </a:xfrm>
          <a:prstGeom prst="roundRect">
            <a:avLst>
              <a:gd name="adj" fmla="val 2238"/>
            </a:avLst>
          </a:prstGeom>
          <a:solidFill>
            <a:srgbClr val="404245"/>
          </a:solidFill>
          <a:ln/>
        </p:spPr>
      </p:sp>
      <p:sp>
        <p:nvSpPr>
          <p:cNvPr id="6" name="Text 3"/>
          <p:cNvSpPr/>
          <p:nvPr/>
        </p:nvSpPr>
        <p:spPr>
          <a:xfrm>
            <a:off x="793730" y="5218113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Format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3730" y="5480348"/>
            <a:ext cx="329665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Single scrolling page, Arabic-first with an English switch, mobile first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15213" y="5085854"/>
            <a:ext cx="3561170" cy="886718"/>
          </a:xfrm>
          <a:prstGeom prst="roundRect">
            <a:avLst>
              <a:gd name="adj" fmla="val 2238"/>
            </a:avLst>
          </a:prstGeom>
          <a:solidFill>
            <a:srgbClr val="404245"/>
          </a:solidFill>
          <a:ln/>
        </p:spPr>
      </p:sp>
      <p:sp>
        <p:nvSpPr>
          <p:cNvPr id="9" name="Text 6"/>
          <p:cNvSpPr/>
          <p:nvPr/>
        </p:nvSpPr>
        <p:spPr>
          <a:xfrm>
            <a:off x="4447468" y="5218113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One Action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47468" y="5480348"/>
            <a:ext cx="329665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ar-SA" alt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section leads to </a:t>
            </a:r>
            <a:r>
              <a:rPr lang="ar-SA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احجز مكالمة</a:t>
            </a:r>
            <a:r>
              <a:rPr lang="ar-SA" alt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(book a call)</a:t>
            </a:r>
            <a:endParaRPr lang="ar-SA" sz="1000" dirty="0"/>
          </a:p>
        </p:txBody>
      </p:sp>
      <p:sp>
        <p:nvSpPr>
          <p:cNvPr id="11" name="Shape 8"/>
          <p:cNvSpPr/>
          <p:nvPr/>
        </p:nvSpPr>
        <p:spPr>
          <a:xfrm>
            <a:off x="7968951" y="5085854"/>
            <a:ext cx="3561170" cy="886718"/>
          </a:xfrm>
          <a:prstGeom prst="roundRect">
            <a:avLst>
              <a:gd name="adj" fmla="val 2238"/>
            </a:avLst>
          </a:prstGeom>
          <a:solidFill>
            <a:srgbClr val="404245"/>
          </a:solidFill>
          <a:ln/>
        </p:spPr>
      </p:sp>
      <p:sp>
        <p:nvSpPr>
          <p:cNvPr id="12" name="Text 9"/>
          <p:cNvSpPr/>
          <p:nvPr/>
        </p:nvSpPr>
        <p:spPr>
          <a:xfrm>
            <a:off x="8101207" y="5218113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Connected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01207" y="5480348"/>
            <a:ext cx="329665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Calendar, forms and link tracking write into the CRM and trigger WhatsApp automation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1475" y="6076752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eight sections come straight from the strategy notes: </a:t>
            </a:r>
            <a:r>
              <a:rPr lang="en-US" sz="10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Hero · Proof · My Story · This page is for… · Protocol · How We Work · FAQ · Calendar.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89224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26157"/>
            <a:ext cx="4096243" cy="25601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168452"/>
            <a:ext cx="10868745" cy="31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Sections 1–2: Hero and Proof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61475" y="3630216"/>
            <a:ext cx="913187" cy="154484"/>
          </a:xfrm>
          <a:prstGeom prst="roundRect">
            <a:avLst>
              <a:gd name="adj" fmla="val 7903"/>
            </a:avLst>
          </a:prstGeom>
          <a:solidFill>
            <a:srgbClr val="391F13"/>
          </a:solidFill>
          <a:ln/>
        </p:spPr>
      </p:sp>
      <p:sp>
        <p:nvSpPr>
          <p:cNvPr id="5" name="Text 2"/>
          <p:cNvSpPr/>
          <p:nvPr/>
        </p:nvSpPr>
        <p:spPr>
          <a:xfrm>
            <a:off x="722493" y="3660676"/>
            <a:ext cx="1400735" cy="93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ar-SA" altLang="en-US" sz="6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· الفرق بين الاثنين</a:t>
            </a:r>
            <a:endParaRPr lang="ar-SA" sz="600" dirty="0"/>
          </a:p>
        </p:txBody>
      </p:sp>
      <p:sp>
        <p:nvSpPr>
          <p:cNvPr id="6" name="Text 3"/>
          <p:cNvSpPr/>
          <p:nvPr/>
        </p:nvSpPr>
        <p:spPr>
          <a:xfrm>
            <a:off x="661475" y="3806527"/>
            <a:ext cx="531025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Before and After, Side by Side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1475" y="4020245"/>
            <a:ext cx="5310253" cy="25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before and after side by side, 125 kg next to today. The proof goes first. One button, no second call to action. Captions carry numbers only: </a:t>
            </a:r>
            <a:r>
              <a:rPr lang="en-US" sz="8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125 kg, 44.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226317" y="3630216"/>
            <a:ext cx="755532" cy="154484"/>
          </a:xfrm>
          <a:prstGeom prst="roundRect">
            <a:avLst>
              <a:gd name="adj" fmla="val 7903"/>
            </a:avLst>
          </a:prstGeom>
          <a:solidFill>
            <a:srgbClr val="391F13"/>
          </a:solidFill>
          <a:ln/>
        </p:spPr>
      </p:sp>
      <p:sp>
        <p:nvSpPr>
          <p:cNvPr id="9" name="Text 6"/>
          <p:cNvSpPr/>
          <p:nvPr/>
        </p:nvSpPr>
        <p:spPr>
          <a:xfrm>
            <a:off x="6287335" y="3660676"/>
            <a:ext cx="1243081" cy="93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ar-SA" altLang="en-US" sz="6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· حقائق عنه</a:t>
            </a:r>
            <a:endParaRPr lang="ar-SA" sz="600" dirty="0"/>
          </a:p>
        </p:txBody>
      </p:sp>
      <p:sp>
        <p:nvSpPr>
          <p:cNvPr id="10" name="Text 7"/>
          <p:cNvSpPr/>
          <p:nvPr/>
        </p:nvSpPr>
        <p:spPr>
          <a:xfrm>
            <a:off x="6226317" y="3806527"/>
            <a:ext cx="531025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Credentials, Not Claims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26317" y="4020245"/>
            <a:ext cx="5310253" cy="846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SQUATWOLF Athlete Ambassador</a:t>
            </a:r>
            <a:endParaRPr lang="en-US" sz="800" dirty="0"/>
          </a:p>
          <a:p>
            <a:pPr marL="162560" indent="-162560" algn="l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Saudi Event Show 2026 Judge</a:t>
            </a:r>
            <a:endParaRPr lang="en-US" sz="800" dirty="0"/>
          </a:p>
          <a:p>
            <a:pPr marL="162560" indent="-162560" algn="l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Years in the events industry</a:t>
            </a:r>
            <a:endParaRPr lang="en-US" sz="800" dirty="0"/>
          </a:p>
          <a:p>
            <a:pPr marL="162560" indent="-162560" algn="l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125 kg → athletic at 44</a:t>
            </a:r>
            <a:endParaRPr lang="en-US" sz="800" dirty="0"/>
          </a:p>
          <a:p>
            <a:pPr marL="162560" indent="-162560" algn="l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Father of three daughters</a:t>
            </a:r>
            <a:endParaRPr lang="en-US" sz="800" dirty="0"/>
          </a:p>
          <a:p>
            <a:pPr marL="162560" indent="-162560" algn="l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Podcast guest, soon host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606510" y="4998244"/>
            <a:ext cx="3510073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125KG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61475" y="5425877"/>
            <a:ext cx="540014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Starting Weight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75112" y="4998244"/>
            <a:ext cx="3510073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44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130077" y="5425877"/>
            <a:ext cx="540014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Age, Fittest Ever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606510" y="5745163"/>
            <a:ext cx="3510073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20YRS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61475" y="6172795"/>
            <a:ext cx="540014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High-Pressure Career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075112" y="5745163"/>
            <a:ext cx="3510073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130077" y="6172795"/>
            <a:ext cx="540014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Daughters. Zero Excuses.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80037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584"/>
            <a:ext cx="1086874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Sections 3–4: My Story and "This page is for…"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682" y="1023739"/>
            <a:ext cx="4018953" cy="251182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90769" y="1498798"/>
            <a:ext cx="738764" cy="151507"/>
          </a:xfrm>
          <a:prstGeom prst="roundRect">
            <a:avLst>
              <a:gd name="adj" fmla="val 7907"/>
            </a:avLst>
          </a:prstGeom>
          <a:solidFill>
            <a:srgbClr val="391F13"/>
          </a:solidFill>
          <a:ln/>
        </p:spPr>
      </p:sp>
      <p:sp>
        <p:nvSpPr>
          <p:cNvPr id="5" name="Text 2"/>
          <p:cNvSpPr/>
          <p:nvPr/>
        </p:nvSpPr>
        <p:spPr>
          <a:xfrm>
            <a:off x="7950596" y="1528663"/>
            <a:ext cx="1228694" cy="91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ar-SA" altLang="en-US" sz="6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STORY · قصتي</a:t>
            </a:r>
            <a:endParaRPr lang="ar-SA" sz="600" dirty="0"/>
          </a:p>
        </p:txBody>
      </p:sp>
      <p:sp>
        <p:nvSpPr>
          <p:cNvPr id="6" name="Text 3"/>
          <p:cNvSpPr/>
          <p:nvPr/>
        </p:nvSpPr>
        <p:spPr>
          <a:xfrm>
            <a:off x="7890769" y="1671340"/>
            <a:ext cx="3645801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Three Paragraphs, Three Numbers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890769" y="1879997"/>
            <a:ext cx="3645801" cy="11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350"/>
              </a:spcAft>
              <a:buNone/>
            </a:pPr>
            <a:r>
              <a:rPr lang="en-US" sz="7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Before:</a:t>
            </a: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director at 125 kg — twenty years building a career in the events industry, long nights, constant travel, deadlines that never stopped. Good at the job and proud of it.</a:t>
            </a:r>
            <a:endParaRPr lang="en-US" sz="750" dirty="0"/>
          </a:p>
          <a:p>
            <a:pPr marL="0" indent="0" algn="l">
              <a:lnSpc>
                <a:spcPct val="102000"/>
              </a:lnSpc>
              <a:spcAft>
                <a:spcPts val="350"/>
              </a:spcAft>
              <a:buNone/>
            </a:pPr>
            <a:r>
              <a:rPr lang="en-US" sz="7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Turning Point:</a:t>
            </a: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mirror, his daughter — a decision that some things were no longer up for negotiation: training, eating clean, 8–10K steps a day, sleep and recovery. No need to be perfect. Just keep showing up.</a:t>
            </a:r>
            <a:endParaRPr lang="en-US" sz="7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7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System:</a:t>
            </a: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Four days a week, the 4th-day rule, steps, protein, sleep. Early in the morning, before the day took over, with his wife beside him and his three daughters watching.</a:t>
            </a:r>
            <a:endParaRPr lang="en-US" sz="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682" y="3713262"/>
            <a:ext cx="4018953" cy="251182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890769" y="4131469"/>
            <a:ext cx="1444192" cy="151507"/>
          </a:xfrm>
          <a:prstGeom prst="roundRect">
            <a:avLst>
              <a:gd name="adj" fmla="val 7907"/>
            </a:avLst>
          </a:prstGeom>
          <a:solidFill>
            <a:srgbClr val="391F13"/>
          </a:solidFill>
          <a:ln/>
        </p:spPr>
      </p:sp>
      <p:sp>
        <p:nvSpPr>
          <p:cNvPr id="10" name="Text 6"/>
          <p:cNvSpPr/>
          <p:nvPr/>
        </p:nvSpPr>
        <p:spPr>
          <a:xfrm>
            <a:off x="7950596" y="4161334"/>
            <a:ext cx="1934122" cy="91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ar-SA" altLang="en-US" sz="6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PAGE IS FOR… · هاي الصفحة لمين؟</a:t>
            </a:r>
            <a:endParaRPr lang="ar-SA" sz="600" dirty="0"/>
          </a:p>
        </p:txBody>
      </p:sp>
      <p:sp>
        <p:nvSpPr>
          <p:cNvPr id="11" name="Text 7"/>
          <p:cNvSpPr/>
          <p:nvPr/>
        </p:nvSpPr>
        <p:spPr>
          <a:xfrm>
            <a:off x="7890769" y="4304010"/>
            <a:ext cx="3645801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Qualifier That Makes the Right Man Feel Seen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890769" y="4512667"/>
            <a:ext cx="3645801" cy="542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38 to 55 years old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90 to 130 kg, started and stopped more than once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"No time" has become your default answer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You've tried diets that felt like punishment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7890769" y="5139630"/>
            <a:ext cx="3645801" cy="12700"/>
          </a:xfrm>
          <a:prstGeom prst="roundRect">
            <a:avLst>
              <a:gd name="adj" fmla="val 49999"/>
            </a:avLst>
          </a:prstGeom>
          <a:solidFill>
            <a:srgbClr val="BDA189">
              <a:alpha val="5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7890769" y="5236468"/>
            <a:ext cx="3645801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Not for you if…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890769" y="5445125"/>
            <a:ext cx="3645801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You're looking for a six-week shred or a magic pill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 want to compete on stage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 need someone to shout at you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411467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53145"/>
            <a:ext cx="4250822" cy="26567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298329"/>
            <a:ext cx="10868745" cy="32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Section 5: The Protocol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661475" y="3716635"/>
            <a:ext cx="10868745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system, built on the five non-negotiables that took him from 125 kg to athletic at 44. Adapted to your body, your schedule and your goals. A slogan and five pillars — </a:t>
            </a:r>
            <a:r>
              <a:rPr lang="en-US" sz="8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no details.</a:t>
            </a: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detail is what clients pay for; the page only shows that a system exists and fits a busy week.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661475" y="4046041"/>
            <a:ext cx="3583592" cy="918567"/>
          </a:xfrm>
          <a:prstGeom prst="roundRect">
            <a:avLst>
              <a:gd name="adj" fmla="val 1724"/>
            </a:avLst>
          </a:prstGeom>
          <a:solidFill>
            <a:srgbClr val="404245"/>
          </a:solidFill>
          <a:ln/>
        </p:spPr>
      </p:sp>
      <p:sp>
        <p:nvSpPr>
          <p:cNvPr id="6" name="Shape 3"/>
          <p:cNvSpPr/>
          <p:nvPr/>
        </p:nvSpPr>
        <p:spPr>
          <a:xfrm>
            <a:off x="767041" y="4151610"/>
            <a:ext cx="316698" cy="316706"/>
          </a:xfrm>
          <a:prstGeom prst="ellipse">
            <a:avLst/>
          </a:prstGeom>
          <a:solidFill>
            <a:srgbClr val="84482D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153" y="4238625"/>
            <a:ext cx="142475" cy="1424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7041" y="4527252"/>
            <a:ext cx="3372460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Training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67041" y="4727476"/>
            <a:ext cx="337246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Gym is a must. Skipping isn't in my dictionary.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304002" y="4046041"/>
            <a:ext cx="3583592" cy="918567"/>
          </a:xfrm>
          <a:prstGeom prst="roundRect">
            <a:avLst>
              <a:gd name="adj" fmla="val 1724"/>
            </a:avLst>
          </a:prstGeom>
          <a:solidFill>
            <a:srgbClr val="404245"/>
          </a:solidFill>
          <a:ln/>
        </p:spPr>
      </p:sp>
      <p:sp>
        <p:nvSpPr>
          <p:cNvPr id="11" name="Shape 7"/>
          <p:cNvSpPr/>
          <p:nvPr/>
        </p:nvSpPr>
        <p:spPr>
          <a:xfrm>
            <a:off x="4409568" y="4151610"/>
            <a:ext cx="316698" cy="316706"/>
          </a:xfrm>
          <a:prstGeom prst="ellipse">
            <a:avLst/>
          </a:prstGeom>
          <a:solidFill>
            <a:srgbClr val="84482D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96680" y="4238625"/>
            <a:ext cx="142475" cy="1424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09568" y="4527252"/>
            <a:ext cx="3372460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Nutrition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409568" y="4727476"/>
            <a:ext cx="337246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Eating clean. I control what fuels me.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7946529" y="4046041"/>
            <a:ext cx="3583592" cy="918567"/>
          </a:xfrm>
          <a:prstGeom prst="roundRect">
            <a:avLst>
              <a:gd name="adj" fmla="val 1724"/>
            </a:avLst>
          </a:prstGeom>
          <a:solidFill>
            <a:srgbClr val="404245"/>
          </a:solidFill>
          <a:ln/>
        </p:spPr>
      </p:sp>
      <p:sp>
        <p:nvSpPr>
          <p:cNvPr id="16" name="Shape 11"/>
          <p:cNvSpPr/>
          <p:nvPr/>
        </p:nvSpPr>
        <p:spPr>
          <a:xfrm>
            <a:off x="8052095" y="4151610"/>
            <a:ext cx="316698" cy="316706"/>
          </a:xfrm>
          <a:prstGeom prst="ellipse">
            <a:avLst/>
          </a:prstGeom>
          <a:solidFill>
            <a:srgbClr val="84482D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39207" y="4238625"/>
            <a:ext cx="142475" cy="14247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52095" y="4527252"/>
            <a:ext cx="3372460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Movement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8052095" y="4727476"/>
            <a:ext cx="337246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8,000–10,000 steps. No excuses.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661475" y="5023545"/>
            <a:ext cx="5404806" cy="918567"/>
          </a:xfrm>
          <a:prstGeom prst="roundRect">
            <a:avLst>
              <a:gd name="adj" fmla="val 1724"/>
            </a:avLst>
          </a:prstGeom>
          <a:solidFill>
            <a:srgbClr val="404245"/>
          </a:solidFill>
          <a:ln/>
        </p:spPr>
      </p:sp>
      <p:sp>
        <p:nvSpPr>
          <p:cNvPr id="21" name="Shape 15"/>
          <p:cNvSpPr/>
          <p:nvPr/>
        </p:nvSpPr>
        <p:spPr>
          <a:xfrm>
            <a:off x="767041" y="5129113"/>
            <a:ext cx="316698" cy="316706"/>
          </a:xfrm>
          <a:prstGeom prst="ellipse">
            <a:avLst/>
          </a:prstGeom>
          <a:solidFill>
            <a:srgbClr val="84482D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4153" y="5216128"/>
            <a:ext cx="142475" cy="14247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7041" y="5504755"/>
            <a:ext cx="5193674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Sleep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767041" y="5704979"/>
            <a:ext cx="519367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Sleep is part of the work.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6125216" y="5023545"/>
            <a:ext cx="5404905" cy="918567"/>
          </a:xfrm>
          <a:prstGeom prst="roundRect">
            <a:avLst>
              <a:gd name="adj" fmla="val 1724"/>
            </a:avLst>
          </a:prstGeom>
          <a:solidFill>
            <a:srgbClr val="404245"/>
          </a:solidFill>
          <a:ln/>
        </p:spPr>
      </p:sp>
      <p:sp>
        <p:nvSpPr>
          <p:cNvPr id="26" name="Shape 19"/>
          <p:cNvSpPr/>
          <p:nvPr/>
        </p:nvSpPr>
        <p:spPr>
          <a:xfrm>
            <a:off x="6230782" y="5129113"/>
            <a:ext cx="316698" cy="316706"/>
          </a:xfrm>
          <a:prstGeom prst="ellipse">
            <a:avLst/>
          </a:prstGeom>
          <a:solidFill>
            <a:srgbClr val="84482D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17894" y="5216128"/>
            <a:ext cx="142475" cy="14247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230782" y="5504755"/>
            <a:ext cx="5193773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Recovery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6230782" y="5704979"/>
            <a:ext cx="519377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Recovery matters just as much.</a:t>
            </a:r>
            <a:endParaRPr lang="en-US" sz="800" dirty="0"/>
          </a:p>
        </p:txBody>
      </p:sp>
      <p:sp>
        <p:nvSpPr>
          <p:cNvPr id="30" name="Shape 22"/>
          <p:cNvSpPr/>
          <p:nvPr/>
        </p:nvSpPr>
        <p:spPr>
          <a:xfrm>
            <a:off x="661475" y="6008390"/>
            <a:ext cx="10868745" cy="296366"/>
          </a:xfrm>
          <a:prstGeom prst="roundRect">
            <a:avLst>
              <a:gd name="adj" fmla="val 5344"/>
            </a:avLst>
          </a:prstGeom>
          <a:solidFill>
            <a:srgbClr val="5F3420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041" y="6093718"/>
            <a:ext cx="131958" cy="105569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04565" y="6093718"/>
            <a:ext cx="1102967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offer: one-to-one and small-group coaching on health, nutrition habits and daily discipline for working men. A life-and-health system that fits around a real job.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99123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427"/>
            <a:ext cx="10868745" cy="257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Sections 6–7: How We Work and FAQ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877" y="1085751"/>
            <a:ext cx="3323348" cy="20771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385" y="907951"/>
            <a:ext cx="947416" cy="125313"/>
          </a:xfrm>
          <a:prstGeom prst="roundRect">
            <a:avLst>
              <a:gd name="adj" fmla="val 7905"/>
            </a:avLst>
          </a:prstGeom>
          <a:solidFill>
            <a:srgbClr val="391F13"/>
          </a:solidFill>
          <a:ln/>
        </p:spPr>
      </p:sp>
      <p:sp>
        <p:nvSpPr>
          <p:cNvPr id="5" name="Text 2"/>
          <p:cNvSpPr/>
          <p:nvPr/>
        </p:nvSpPr>
        <p:spPr>
          <a:xfrm>
            <a:off x="7912894" y="932656"/>
            <a:ext cx="1457983" cy="75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ar-SA" altLang="en-US" sz="5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 · كيف بنشتغل</a:t>
            </a:r>
            <a:endParaRPr lang="ar-SA" sz="500" dirty="0"/>
          </a:p>
        </p:txBody>
      </p:sp>
      <p:sp>
        <p:nvSpPr>
          <p:cNvPr id="6" name="Text 3"/>
          <p:cNvSpPr/>
          <p:nvPr/>
        </p:nvSpPr>
        <p:spPr>
          <a:xfrm>
            <a:off x="7863385" y="1073745"/>
            <a:ext cx="165096" cy="103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01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7863385" y="1201341"/>
            <a:ext cx="3673085" cy="1270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8" name="Text 5"/>
          <p:cNvSpPr/>
          <p:nvPr/>
        </p:nvSpPr>
        <p:spPr>
          <a:xfrm>
            <a:off x="7863385" y="1268016"/>
            <a:ext cx="3673085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Free Call on the Calendar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863385" y="1433016"/>
            <a:ext cx="3673085" cy="189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free 30-minute conversation about where you are, where you want to be, and whether we're the right fit.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7863385" y="1720652"/>
            <a:ext cx="165096" cy="103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02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7863385" y="1848247"/>
            <a:ext cx="3673085" cy="1270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2" name="Text 9"/>
          <p:cNvSpPr/>
          <p:nvPr/>
        </p:nvSpPr>
        <p:spPr>
          <a:xfrm>
            <a:off x="7863385" y="1914922"/>
            <a:ext cx="3673085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Registration Form on WhatsApp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863385" y="2079923"/>
            <a:ext cx="3673085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short form and a plan built around his schedule — food habits, history, lifestyle.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7863385" y="2272705"/>
            <a:ext cx="165096" cy="103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03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7863385" y="2400300"/>
            <a:ext cx="3673085" cy="1270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6" name="Text 13"/>
          <p:cNvSpPr/>
          <p:nvPr/>
        </p:nvSpPr>
        <p:spPr>
          <a:xfrm>
            <a:off x="7863385" y="2466975"/>
            <a:ext cx="3673085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Weekly Check-In on WhatsApp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863385" y="2631976"/>
            <a:ext cx="3673085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Weight, photo, training days, sleep, notes. Each step matches a real automated step.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7863385" y="2824758"/>
            <a:ext cx="165096" cy="103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04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7863385" y="2952353"/>
            <a:ext cx="3673085" cy="1270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20" name="Text 17"/>
          <p:cNvSpPr/>
          <p:nvPr/>
        </p:nvSpPr>
        <p:spPr>
          <a:xfrm>
            <a:off x="7863385" y="3019028"/>
            <a:ext cx="3673085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Check-Ins and Adjust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863385" y="3184029"/>
            <a:ext cx="3673085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Regular accountability and adjustments until the habits run on their own.</a:t>
            </a:r>
            <a:endParaRPr lang="en-US" sz="6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877" y="3823593"/>
            <a:ext cx="3323348" cy="2077145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863385" y="3462238"/>
            <a:ext cx="641136" cy="125313"/>
          </a:xfrm>
          <a:prstGeom prst="roundRect">
            <a:avLst>
              <a:gd name="adj" fmla="val 7905"/>
            </a:avLst>
          </a:prstGeom>
          <a:solidFill>
            <a:srgbClr val="391F13"/>
          </a:solidFill>
          <a:ln/>
        </p:spPr>
      </p:sp>
      <p:sp>
        <p:nvSpPr>
          <p:cNvPr id="24" name="Text 20"/>
          <p:cNvSpPr/>
          <p:nvPr/>
        </p:nvSpPr>
        <p:spPr>
          <a:xfrm>
            <a:off x="7912894" y="3486944"/>
            <a:ext cx="1151702" cy="75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ar-SA" altLang="en-US" sz="5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· أسئلة</a:t>
            </a:r>
            <a:endParaRPr lang="ar-SA" sz="500" dirty="0"/>
          </a:p>
        </p:txBody>
      </p:sp>
      <p:sp>
        <p:nvSpPr>
          <p:cNvPr id="25" name="Text 21"/>
          <p:cNvSpPr/>
          <p:nvPr/>
        </p:nvSpPr>
        <p:spPr>
          <a:xfrm>
            <a:off x="7863385" y="3601938"/>
            <a:ext cx="3673085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Five Questions, In His Voice</a:t>
            </a:r>
            <a:endParaRPr lang="en-US" sz="8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3385" y="3771404"/>
            <a:ext cx="3673085" cy="54520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009432" y="3866654"/>
            <a:ext cx="3431791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Do I need a gym?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8009432" y="4031655"/>
            <a:ext cx="3431791" cy="189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Yes. The gym is non-negotiable — but the plan fits around your schedule, not the other way around.</a:t>
            </a:r>
            <a:endParaRPr lang="en-US" sz="6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3385" y="4352627"/>
            <a:ext cx="3673085" cy="45035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009432" y="4447877"/>
            <a:ext cx="3431791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How long does it take?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8009432" y="4612878"/>
            <a:ext cx="3431791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 change takes months, not weeks. We build habits that last, not a 30-day sprint.</a:t>
            </a:r>
            <a:endParaRPr lang="en-US" sz="6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63385" y="4838998"/>
            <a:ext cx="3673085" cy="45035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009432" y="4934248"/>
            <a:ext cx="3431791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 travel a lot.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8009432" y="5099248"/>
            <a:ext cx="3431791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 do I. The protocol is built for travel — hotel gyms, airport meals, time zones.</a:t>
            </a:r>
            <a:endParaRPr lang="en-US" sz="6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63385" y="5325368"/>
            <a:ext cx="3673085" cy="45035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009432" y="5420618"/>
            <a:ext cx="3431791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Is any food banned?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8009432" y="5585619"/>
            <a:ext cx="3431791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banned foods. Clean eating, not punishment. You'll learn to eat anywhere.</a:t>
            </a:r>
            <a:endParaRPr lang="en-US" sz="6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63385" y="5811738"/>
            <a:ext cx="3673085" cy="45035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009432" y="5906988"/>
            <a:ext cx="3431791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does it cost?</a:t>
            </a:r>
            <a:endParaRPr lang="en-US" sz="800" dirty="0"/>
          </a:p>
        </p:txBody>
      </p:sp>
      <p:sp>
        <p:nvSpPr>
          <p:cNvPr id="40" name="Text 31"/>
          <p:cNvSpPr/>
          <p:nvPr/>
        </p:nvSpPr>
        <p:spPr>
          <a:xfrm>
            <a:off x="8009432" y="6071989"/>
            <a:ext cx="3431791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talk about it on the call. No "contact us for price" — that reads as expensive and evasive.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254973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1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Section 8: The Calendar That Starts the Automation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61475" y="952302"/>
            <a:ext cx="11478330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embedded booking calendar with only Waleed's available slots, in KSA time. Booking starts everything — no manual follow-up required.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94" y="1200646"/>
            <a:ext cx="4096243" cy="256014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09" y="1740793"/>
            <a:ext cx="2367697" cy="147984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574" y="3887143"/>
            <a:ext cx="152595" cy="15259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92063" y="3884017"/>
            <a:ext cx="1053815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Lead Created in CRM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992063" y="4075807"/>
            <a:ext cx="10538157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lead record is created with the source post attached automatically.</a:t>
            </a:r>
            <a:endParaRPr lang="en-US" sz="8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574" y="4313585"/>
            <a:ext cx="152595" cy="15259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92063" y="4310459"/>
            <a:ext cx="1053815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WhatsApp Confirmation</a:t>
            </a:r>
            <a:endParaRPr lang="en-US" sz="1000" dirty="0"/>
          </a:p>
        </p:txBody>
      </p:sp>
      <p:sp>
        <p:nvSpPr>
          <p:cNvPr id="11" name="Text 5"/>
          <p:cNvSpPr/>
          <p:nvPr/>
        </p:nvSpPr>
        <p:spPr>
          <a:xfrm>
            <a:off x="992063" y="4502249"/>
            <a:ext cx="10538157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confirmation goes out instantly in Arabic.</a:t>
            </a:r>
            <a:endParaRPr lang="en-US" sz="8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574" y="4740027"/>
            <a:ext cx="152595" cy="15259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92063" y="4736902"/>
            <a:ext cx="1053815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Reminders Sent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992063" y="4928691"/>
            <a:ext cx="10538157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 hours and 1 hour before the call, automatically.</a:t>
            </a:r>
            <a:endParaRPr lang="en-US" sz="8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574" y="5166469"/>
            <a:ext cx="152595" cy="15259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92063" y="5163344"/>
            <a:ext cx="1053815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Pre-Call Form</a:t>
            </a:r>
            <a:endParaRPr lang="en-US" sz="1000" dirty="0"/>
          </a:p>
        </p:txBody>
      </p:sp>
      <p:sp>
        <p:nvSpPr>
          <p:cNvPr id="17" name="Text 9"/>
          <p:cNvSpPr/>
          <p:nvPr/>
        </p:nvSpPr>
        <p:spPr>
          <a:xfrm>
            <a:off x="992063" y="5355134"/>
            <a:ext cx="10538157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short form arrives on WhatsApp so the call starts informed.</a:t>
            </a:r>
            <a:endParaRPr lang="en-US" sz="8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574" y="5592911"/>
            <a:ext cx="152595" cy="15259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92063" y="5589786"/>
            <a:ext cx="1053815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No-Show Recovery</a:t>
            </a:r>
            <a:endParaRPr lang="en-US" sz="1000" dirty="0"/>
          </a:p>
        </p:txBody>
      </p:sp>
      <p:sp>
        <p:nvSpPr>
          <p:cNvPr id="20" name="Text 11"/>
          <p:cNvSpPr/>
          <p:nvPr/>
        </p:nvSpPr>
        <p:spPr>
          <a:xfrm>
            <a:off x="992063" y="5781576"/>
            <a:ext cx="10538157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No-shows get one polite rebooking message.</a:t>
            </a:r>
            <a:endParaRPr lang="en-US" sz="8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574" y="6019354"/>
            <a:ext cx="152595" cy="15259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992063" y="6016228"/>
            <a:ext cx="1053815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Post-Call Tap</a:t>
            </a:r>
            <a:endParaRPr lang="en-US" sz="1000" dirty="0"/>
          </a:p>
        </p:txBody>
      </p:sp>
      <p:sp>
        <p:nvSpPr>
          <p:cNvPr id="23" name="Text 13"/>
          <p:cNvSpPr/>
          <p:nvPr/>
        </p:nvSpPr>
        <p:spPr>
          <a:xfrm>
            <a:off x="992063" y="6208018"/>
            <a:ext cx="10538157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After the call, Waleed taps "Client" or "Not now" and the next automation starts.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147649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86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Built Mobile First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061" y="1285875"/>
            <a:ext cx="1648280" cy="35671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57244" y="1887041"/>
            <a:ext cx="1836890" cy="215305"/>
          </a:xfrm>
          <a:prstGeom prst="roundRect">
            <a:avLst>
              <a:gd name="adj" fmla="val 7901"/>
            </a:avLst>
          </a:prstGeom>
          <a:solidFill>
            <a:srgbClr val="391F13"/>
          </a:solidFill>
          <a:ln/>
        </p:spPr>
      </p:sp>
      <p:sp>
        <p:nvSpPr>
          <p:cNvPr id="5" name="Text 2"/>
          <p:cNvSpPr/>
          <p:nvPr/>
        </p:nvSpPr>
        <p:spPr>
          <a:xfrm>
            <a:off x="8042272" y="1929507"/>
            <a:ext cx="227641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RULES FOR THE WEBSITE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7957244" y="2257326"/>
            <a:ext cx="3579227" cy="19050"/>
          </a:xfrm>
          <a:prstGeom prst="roundRect">
            <a:avLst>
              <a:gd name="adj" fmla="val 49999"/>
            </a:avLst>
          </a:prstGeom>
          <a:solidFill>
            <a:srgbClr val="BDA189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957244" y="2431355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Technical Stack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957244" y="2759075"/>
            <a:ext cx="3579227" cy="1575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Arabic (RTL) and English language toggle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Cal.com booking with webhooks into the CRM and WhatsApp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Analytics, Meta Pixel and a tracked link per post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Indexed under </a:t>
            </a:r>
            <a:r>
              <a:rPr lang="ar-SA" altLang="en-US" sz="1100" b="1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وليد كتور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Podcast embedded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Privacy policy and a "not medical advice" note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092105"/>
            <a:ext cx="3552042" cy="1201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8403" y="5252839"/>
            <a:ext cx="31543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 Testimonials Section, Yet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98403" y="5537994"/>
            <a:ext cx="315438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thin results block damages trust faster than none. His own transformation is the case study until the two client cases are ready.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9777" y="5092105"/>
            <a:ext cx="3552042" cy="12019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56706" y="5252839"/>
            <a:ext cx="31543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Show the Price or Book the Call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556706" y="5537994"/>
            <a:ext cx="3154383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Never "contact us for price." To this man it reads as expensive and evasive.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8079" y="5092105"/>
            <a:ext cx="3552042" cy="12019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15008" y="5252839"/>
            <a:ext cx="31543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Mobile First, Genuinely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8215008" y="5537994"/>
            <a:ext cx="315438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Tested on a mid-range phone over mobile data: thumb-reachable buttons, Arabic text readable without zooming, a sticky booking button.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35526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466"/>
            <a:ext cx="10868745" cy="347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CRM: Coaching from a Phone, Without Typing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61475" y="1029593"/>
            <a:ext cx="937296" cy="169069"/>
          </a:xfrm>
          <a:prstGeom prst="roundRect">
            <a:avLst>
              <a:gd name="adj" fmla="val 7903"/>
            </a:avLst>
          </a:prstGeom>
          <a:solidFill>
            <a:srgbClr val="391F13"/>
          </a:solidFill>
          <a:ln/>
        </p:spPr>
      </p:sp>
      <p:sp>
        <p:nvSpPr>
          <p:cNvPr id="4" name="Text 2"/>
          <p:cNvSpPr/>
          <p:nvPr/>
        </p:nvSpPr>
        <p:spPr>
          <a:xfrm>
            <a:off x="728247" y="1062930"/>
            <a:ext cx="1413336" cy="10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 PRINCIPLES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61475" y="1272381"/>
            <a:ext cx="11478330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client enters the data · one screen a day · voice over typing.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61475" y="1561306"/>
            <a:ext cx="993254" cy="169069"/>
          </a:xfrm>
          <a:prstGeom prst="roundRect">
            <a:avLst>
              <a:gd name="adj" fmla="val 7903"/>
            </a:avLst>
          </a:prstGeom>
          <a:noFill/>
          <a:ln w="6350">
            <a:solidFill>
              <a:srgbClr val="8448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8247" y="1594644"/>
            <a:ext cx="1469294" cy="10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ar-SA" altLang="en-US" sz="700" dirty="0">
                <a:solidFill>
                  <a:srgbClr val="844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الرئيسية</a:t>
            </a:r>
            <a:endParaRPr lang="ar-SA" sz="700" dirty="0"/>
          </a:p>
        </p:txBody>
      </p:sp>
      <p:sp>
        <p:nvSpPr>
          <p:cNvPr id="8" name="Text 6"/>
          <p:cNvSpPr/>
          <p:nvPr/>
        </p:nvSpPr>
        <p:spPr>
          <a:xfrm>
            <a:off x="661475" y="1804095"/>
            <a:ext cx="5298546" cy="634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06000"/>
              </a:lnSpc>
              <a:buSzPct val="100000"/>
              <a:buChar char="•"/>
            </a:pPr>
            <a:r>
              <a:rPr lang="en-US" sz="8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Subscriptions:</a:t>
            </a: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active, ending within 14 days, expired, upgrade candidates</a:t>
            </a:r>
            <a:endParaRPr lang="en-US" sz="850" dirty="0"/>
          </a:p>
          <a:p>
            <a:pPr marL="172720" indent="-172720" algn="l">
              <a:lnSpc>
                <a:spcPct val="106000"/>
              </a:lnSpc>
              <a:buSzPct val="100000"/>
              <a:buChar char="•"/>
            </a:pPr>
            <a:r>
              <a:rPr lang="en-US" sz="8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Follow-up:</a:t>
            </a: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needs follow-up today, no check-in this week, new InBody to review, AI drafts waiting</a:t>
            </a:r>
            <a:endParaRPr lang="en-US" sz="850" dirty="0"/>
          </a:p>
          <a:p>
            <a:pPr marL="172720" indent="-172720" algn="l">
              <a:lnSpc>
                <a:spcPct val="106000"/>
              </a:lnSpc>
              <a:buSzPct val="100000"/>
              <a:buChar char="•"/>
            </a:pPr>
            <a:r>
              <a:rPr lang="en-US" sz="8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Clients:</a:t>
            </a: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search, new leads, booked calls</a:t>
            </a:r>
            <a:endParaRPr lang="en-US" sz="850" dirty="0"/>
          </a:p>
          <a:p>
            <a:pPr marL="172720" indent="-172720" algn="l">
              <a:lnSpc>
                <a:spcPct val="106000"/>
              </a:lnSpc>
              <a:buSzPct val="100000"/>
              <a:buChar char="•"/>
            </a:pPr>
            <a:r>
              <a:rPr lang="en-US" sz="8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Headline numbers:</a:t>
            </a: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active clients, renewals, revenue, new leads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1475" y="2540298"/>
            <a:ext cx="5298546" cy="12700"/>
          </a:xfrm>
          <a:prstGeom prst="roundRect">
            <a:avLst>
              <a:gd name="adj" fmla="val 49999"/>
            </a:avLst>
          </a:prstGeom>
          <a:solidFill>
            <a:srgbClr val="BDA189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2654498"/>
            <a:ext cx="1449947" cy="169069"/>
          </a:xfrm>
          <a:prstGeom prst="roundRect">
            <a:avLst>
              <a:gd name="adj" fmla="val 7903"/>
            </a:avLst>
          </a:prstGeom>
          <a:noFill/>
          <a:ln w="6350">
            <a:solidFill>
              <a:srgbClr val="8448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8247" y="2687836"/>
            <a:ext cx="1925986" cy="10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ar-SA" altLang="en-US" sz="700" dirty="0">
                <a:solidFill>
                  <a:srgbClr val="844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PROFILE · ملف العميل</a:t>
            </a:r>
            <a:endParaRPr lang="ar-SA" sz="700" dirty="0"/>
          </a:p>
        </p:txBody>
      </p:sp>
      <p:sp>
        <p:nvSpPr>
          <p:cNvPr id="12" name="Text 10"/>
          <p:cNvSpPr/>
          <p:nvPr/>
        </p:nvSpPr>
        <p:spPr>
          <a:xfrm>
            <a:off x="661475" y="2897287"/>
            <a:ext cx="5298546" cy="799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Today's weight against starting weight at the top</a:t>
            </a:r>
            <a:endParaRPr lang="en-US" sz="850" dirty="0"/>
          </a:p>
          <a:p>
            <a:pPr marL="172720" indent="-172720" algn="l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Photo, plan, status · WhatsApp, email, Instagram</a:t>
            </a:r>
            <a:endParaRPr lang="en-US" sz="850" dirty="0"/>
          </a:p>
          <a:p>
            <a:pPr marL="172720" indent="-172720" algn="l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Start and renewal dates · weight chart, height, InBody history</a:t>
            </a:r>
            <a:endParaRPr lang="en-US" sz="850" dirty="0"/>
          </a:p>
          <a:p>
            <a:pPr marL="172720" indent="-172720" algn="l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Weekly photo timeline · meal PDF · check-in log</a:t>
            </a:r>
            <a:endParaRPr lang="en-US" sz="850" dirty="0"/>
          </a:p>
          <a:p>
            <a:pPr marL="172720" indent="-172720" algn="l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Transcribed voice notes · payments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38024" y="1561306"/>
            <a:ext cx="993452" cy="169069"/>
          </a:xfrm>
          <a:prstGeom prst="roundRect">
            <a:avLst>
              <a:gd name="adj" fmla="val 7903"/>
            </a:avLst>
          </a:prstGeom>
          <a:noFill/>
          <a:ln w="6350">
            <a:solidFill>
              <a:srgbClr val="8448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4797" y="1594644"/>
            <a:ext cx="1469492" cy="10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REGISTRATION FORM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238024" y="1804095"/>
            <a:ext cx="5298546" cy="282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Allergies, diseases, medications, injuries, history and separate consents. Any declared condition raises a </a:t>
            </a:r>
            <a:r>
              <a:rPr lang="en-US" sz="850" b="1" dirty="0">
                <a:solidFill>
                  <a:srgbClr val="BE6841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medical flag</a:t>
            </a: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no AI meal plan, doctor clearance first.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38024" y="2188567"/>
            <a:ext cx="5298546" cy="12700"/>
          </a:xfrm>
          <a:prstGeom prst="roundRect">
            <a:avLst>
              <a:gd name="adj" fmla="val 49999"/>
            </a:avLst>
          </a:prstGeom>
          <a:solidFill>
            <a:srgbClr val="BDA189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238024" y="2302768"/>
            <a:ext cx="1903663" cy="169069"/>
          </a:xfrm>
          <a:prstGeom prst="roundRect">
            <a:avLst>
              <a:gd name="adj" fmla="val 7903"/>
            </a:avLst>
          </a:prstGeom>
          <a:noFill/>
          <a:ln w="6350">
            <a:solidFill>
              <a:srgbClr val="8448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4797" y="2336105"/>
            <a:ext cx="2379702" cy="10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ar-SA" altLang="en-US" sz="700" dirty="0">
                <a:solidFill>
                  <a:srgbClr val="844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AND RENEWALS · الدفعات والتجديد</a:t>
            </a:r>
            <a:endParaRPr lang="ar-SA" sz="700" dirty="0"/>
          </a:p>
        </p:txBody>
      </p:sp>
      <p:sp>
        <p:nvSpPr>
          <p:cNvPr id="19" name="Text 17"/>
          <p:cNvSpPr/>
          <p:nvPr/>
        </p:nvSpPr>
        <p:spPr>
          <a:xfrm>
            <a:off x="6238024" y="2545556"/>
            <a:ext cx="5908130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Paid / due / overdue, full history, a renewal pipeline starting 14 days out.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38024" y="2788543"/>
            <a:ext cx="5298546" cy="12700"/>
          </a:xfrm>
          <a:prstGeom prst="roundRect">
            <a:avLst>
              <a:gd name="adj" fmla="val 49999"/>
            </a:avLst>
          </a:prstGeom>
          <a:solidFill>
            <a:srgbClr val="BDA189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238024" y="2902744"/>
            <a:ext cx="1493701" cy="169069"/>
          </a:xfrm>
          <a:prstGeom prst="roundRect">
            <a:avLst>
              <a:gd name="adj" fmla="val 7903"/>
            </a:avLst>
          </a:prstGeom>
          <a:noFill/>
          <a:ln w="6350">
            <a:solidFill>
              <a:srgbClr val="8448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4797" y="2936081"/>
            <a:ext cx="1969741" cy="10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NOTES REGISTER AND TELEGRAM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238024" y="3145532"/>
            <a:ext cx="5298546" cy="282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Voice notes auto-transcribed to the right client. A private Telegram bot answers questions and sends a morning digest. Health data handled under </a:t>
            </a:r>
            <a:r>
              <a:rPr lang="en-US" sz="8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Saudi PDPL</a:t>
            </a: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8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946" y="3793034"/>
            <a:ext cx="5493803" cy="251440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555579" y="5610996"/>
            <a:ext cx="1031423" cy="397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Automated Next Step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255704" y="5610996"/>
            <a:ext cx="1031422" cy="397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Waleed Review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962893" y="5610996"/>
            <a:ext cx="1031423" cy="397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Transcribe Note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3641824" y="5710344"/>
            <a:ext cx="10314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Client Input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965614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88863"/>
            <a:ext cx="4993952" cy="31212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832126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AI Automation: Nine Client Automations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61475" y="4341813"/>
            <a:ext cx="1147833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complete system for Waleed — Arabic-first, human in the loop for health and money, clean handover, within Meta's platform rules, and everything logged.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661475" y="4597698"/>
            <a:ext cx="681715" cy="188516"/>
          </a:xfrm>
          <a:prstGeom prst="roundRect">
            <a:avLst>
              <a:gd name="adj" fmla="val 7896"/>
            </a:avLst>
          </a:prstGeom>
          <a:solidFill>
            <a:srgbClr val="391F13"/>
          </a:solidFill>
          <a:ln/>
        </p:spPr>
      </p:sp>
      <p:sp>
        <p:nvSpPr>
          <p:cNvPr id="6" name="Text 3"/>
          <p:cNvSpPr/>
          <p:nvPr/>
        </p:nvSpPr>
        <p:spPr>
          <a:xfrm>
            <a:off x="735887" y="4634905"/>
            <a:ext cx="1142475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PRINCIPLES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61475" y="4877792"/>
            <a:ext cx="5393694" cy="654943"/>
          </a:xfrm>
          <a:prstGeom prst="roundRect">
            <a:avLst>
              <a:gd name="adj" fmla="val 2841"/>
            </a:avLst>
          </a:prstGeom>
          <a:solidFill>
            <a:srgbClr val="404245"/>
          </a:solidFill>
          <a:ln/>
        </p:spPr>
      </p:sp>
      <p:sp>
        <p:nvSpPr>
          <p:cNvPr id="8" name="Text 5"/>
          <p:cNvSpPr/>
          <p:nvPr/>
        </p:nvSpPr>
        <p:spPr>
          <a:xfrm>
            <a:off x="785495" y="5001816"/>
            <a:ext cx="514565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Arabic-First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5495" y="5244405"/>
            <a:ext cx="51456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message, every touchpoint in the client's language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36526" y="4877792"/>
            <a:ext cx="5393694" cy="654943"/>
          </a:xfrm>
          <a:prstGeom prst="roundRect">
            <a:avLst>
              <a:gd name="adj" fmla="val 2841"/>
            </a:avLst>
          </a:prstGeom>
          <a:solidFill>
            <a:srgbClr val="404245"/>
          </a:solidFill>
          <a:ln/>
        </p:spPr>
      </p:sp>
      <p:sp>
        <p:nvSpPr>
          <p:cNvPr id="11" name="Text 8"/>
          <p:cNvSpPr/>
          <p:nvPr/>
        </p:nvSpPr>
        <p:spPr>
          <a:xfrm>
            <a:off x="6260547" y="5001816"/>
            <a:ext cx="514565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Human in the Loop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60547" y="5244405"/>
            <a:ext cx="51456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Health and money decisions always go through Waleed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61475" y="5614095"/>
            <a:ext cx="5393694" cy="654943"/>
          </a:xfrm>
          <a:prstGeom prst="roundRect">
            <a:avLst>
              <a:gd name="adj" fmla="val 2841"/>
            </a:avLst>
          </a:prstGeom>
          <a:solidFill>
            <a:srgbClr val="404245"/>
          </a:solidFill>
          <a:ln/>
        </p:spPr>
      </p:sp>
      <p:sp>
        <p:nvSpPr>
          <p:cNvPr id="14" name="Text 11"/>
          <p:cNvSpPr/>
          <p:nvPr/>
        </p:nvSpPr>
        <p:spPr>
          <a:xfrm>
            <a:off x="785495" y="5738118"/>
            <a:ext cx="514565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Clean Handover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85495" y="5980708"/>
            <a:ext cx="51456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action logged and handed off clearly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36526" y="5614095"/>
            <a:ext cx="5393694" cy="654943"/>
          </a:xfrm>
          <a:prstGeom prst="roundRect">
            <a:avLst>
              <a:gd name="adj" fmla="val 2841"/>
            </a:avLst>
          </a:prstGeom>
          <a:solidFill>
            <a:srgbClr val="404245"/>
          </a:solidFill>
          <a:ln/>
        </p:spPr>
      </p:sp>
      <p:sp>
        <p:nvSpPr>
          <p:cNvPr id="17" name="Text 14"/>
          <p:cNvSpPr/>
          <p:nvPr/>
        </p:nvSpPr>
        <p:spPr>
          <a:xfrm>
            <a:off x="6260547" y="5738118"/>
            <a:ext cx="514565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Platform Rules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60547" y="5980708"/>
            <a:ext cx="51456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Within Meta's guidelines at every step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89764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545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Nine Automations</a:t>
            </a:r>
            <a:endParaRPr lang="en-US" sz="2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29829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6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#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8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Automation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8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What Happens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8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Meal PDF Delivery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Approved PDF sent to the client on WhatsApp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InBody Tracking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AI reads the photo, saves weight, muscle, body fat, updates the graph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Monthly Report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 report per client sent to Waleed on the 1st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Weekly Reminder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«لا تنسى التشيك-إن تبعك اليوم»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Weekly Form Link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The check-in link each week, answers land in the profile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9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AI Plan Builder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Drafts meal and plan ideas; </a:t>
                      </a:r>
                      <a:r>
                        <a:rPr lang="en-US" sz="115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Waleed approves every one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9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Renewals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Renew or upgrade message 7 days before, one follow-up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9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Waleed's Assistant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Voice notes to the right client's CRM record; answers questions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6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Weekly Progress Photo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Added to the before/now timeline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571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7544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Leads Engine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454" y="2444849"/>
            <a:ext cx="4523766" cy="2472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75981" y="3603144"/>
            <a:ext cx="1048196" cy="142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Post + CTA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122854" y="3587061"/>
            <a:ext cx="1048196" cy="142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 DM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29841" y="3592211"/>
            <a:ext cx="1048195" cy="142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Click = Lead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927181" y="1251049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27181" y="1522809"/>
            <a:ext cx="3609289" cy="1408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ar-SA" altLang="en-US" sz="9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Post + CTA:</a:t>
            </a:r>
            <a:r>
              <a:rPr lang="ar-SA" altLang="en-US" sz="95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e.g. اكتب «بروتوكول» بالكومنت وببعتلك القاعدة كاملة</a:t>
            </a:r>
            <a:endParaRPr lang="ar-SA" sz="950" dirty="0"/>
          </a:p>
          <a:p>
            <a:pPr marL="193040" indent="-193040" algn="l">
              <a:lnSpc>
                <a:spcPct val="110000"/>
              </a:lnSpc>
              <a:buSzPct val="100000"/>
              <a:buFont typeface="+mj-lt"/>
              <a:buAutoNum type="arabicPeriod" startAt="2"/>
            </a:pPr>
            <a:r>
              <a:rPr lang="ar-SA" altLang="en-US" sz="9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Auto DM:</a:t>
            </a:r>
            <a:r>
              <a:rPr lang="ar-SA" alt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promised resource + a website link unique to that person</a:t>
            </a:r>
            <a:endParaRPr lang="ar-SA" sz="950" dirty="0"/>
          </a:p>
          <a:p>
            <a:pPr marL="193040" indent="-193040" algn="l">
              <a:lnSpc>
                <a:spcPct val="110000"/>
              </a:lnSpc>
              <a:buSzPct val="100000"/>
              <a:buFont typeface="+mj-lt"/>
              <a:buAutoNum type="arabicPeriod" startAt="3"/>
            </a:pPr>
            <a:r>
              <a:rPr lang="ar-SA" altLang="en-US" sz="9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Click = lead:</a:t>
            </a:r>
            <a:r>
              <a:rPr lang="ar-SA" alt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CRM registers his handle, the source post and the date</a:t>
            </a:r>
            <a:endParaRPr lang="ar-SA" sz="950" dirty="0"/>
          </a:p>
          <a:p>
            <a:pPr marL="193040" indent="-193040" algn="l">
              <a:lnSpc>
                <a:spcPct val="110000"/>
              </a:lnSpc>
              <a:buSzPct val="100000"/>
              <a:buFont typeface="+mj-lt"/>
              <a:buAutoNum type="arabicPeriod" startAt="4"/>
            </a:pPr>
            <a:r>
              <a:rPr lang="ar-SA" altLang="en-US" sz="9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Assistant:</a:t>
            </a:r>
            <a:r>
              <a:rPr lang="ar-SA" alt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answers repeat questions, qualifies, offers the calendar</a:t>
            </a:r>
            <a:endParaRPr lang="ar-SA" sz="950" dirty="0"/>
          </a:p>
          <a:p>
            <a:pPr marL="193040" indent="-193040" algn="l">
              <a:lnSpc>
                <a:spcPct val="110000"/>
              </a:lnSpc>
              <a:buSzPct val="100000"/>
              <a:buFont typeface="+mj-lt"/>
              <a:buAutoNum type="arabicPeriod" startAt="5"/>
            </a:pPr>
            <a:r>
              <a:rPr lang="ar-SA" altLang="en-US" sz="9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Booked or follow-up:</a:t>
            </a:r>
            <a:r>
              <a:rPr lang="ar-SA" alt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call booked, or queued for a human</a:t>
            </a:r>
            <a:endParaRPr lang="ar-SA" sz="950" dirty="0"/>
          </a:p>
        </p:txBody>
      </p:sp>
      <p:sp>
        <p:nvSpPr>
          <p:cNvPr id="9" name="Text 6"/>
          <p:cNvSpPr/>
          <p:nvPr/>
        </p:nvSpPr>
        <p:spPr>
          <a:xfrm>
            <a:off x="7927181" y="3003153"/>
            <a:ext cx="360928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Because every link is unique, we know </a:t>
            </a:r>
            <a:r>
              <a:rPr lang="en-US" sz="9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which post produced which client</a:t>
            </a: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not only views.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927181" y="3417193"/>
            <a:ext cx="3609289" cy="1177727"/>
          </a:xfrm>
          <a:prstGeom prst="roundRect">
            <a:avLst>
              <a:gd name="adj" fmla="val 1565"/>
            </a:avLst>
          </a:prstGeom>
          <a:solidFill>
            <a:srgbClr val="5F342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011" y="3547070"/>
            <a:ext cx="153488" cy="12283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26328" y="3519686"/>
            <a:ext cx="3087313" cy="97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Follow-up within the rules:</a:t>
            </a: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Meta limits business messages to a window after the person's last message, and WhatsApp needs opt-in. So follow-up moves to WhatsApp with consent, happens personally from the "Not now" list, or comes back through new content. No mass cold DMs.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927181" y="4684713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Stack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927181" y="4956473"/>
            <a:ext cx="3609289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n8n (self-hosted) · WhatsApp Cloud API · Meta Graph API · an Arabic-strong LLM · vision for InBody · Whisper-class transcription · Cal.com · Telegram Bot API · branded PDFs.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927181" y="5522615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Rollout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927181" y="5794375"/>
            <a:ext cx="360928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 1 catch every lead · Month 2 run the clients · Month 3 the intelligence layer.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994601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3902"/>
            <a:ext cx="10868745" cy="32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Social Media: The Weekly Rhythm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61475" y="1031677"/>
            <a:ext cx="10868745" cy="5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Every post at 20:00 KSA, on Instagram and Facebook</a:t>
            </a:r>
            <a:endParaRPr lang="en-US" sz="800" dirty="0"/>
          </a:p>
          <a:p>
            <a:pPr marL="0" indent="0" algn="l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Friday Reel (anchor) · Saturday carousel · Sunday Reel (test slot) · Tuesday Reel · Wednesday Reel · Monday and Thursday Stories only (+ Q&amp;A box on Thursday)</a:t>
            </a:r>
            <a:endParaRPr lang="en-US" sz="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4 Reels + 1 carousel a week · about 16 + 4 a month · 2+ raw Stories a day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647329"/>
            <a:ext cx="10868745" cy="263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Five Content Pillars</a:t>
            </a:r>
            <a:endParaRPr lang="en-US" sz="1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99655"/>
            <a:ext cx="10868745" cy="7352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6132" y="2268240"/>
            <a:ext cx="158349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5373" y="2117923"/>
            <a:ext cx="10256581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ar-SA" altLang="en-US" sz="10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 · الطريق</a:t>
            </a:r>
            <a:endParaRPr lang="ar-SA" sz="1000" dirty="0"/>
          </a:p>
        </p:txBody>
      </p:sp>
      <p:sp>
        <p:nvSpPr>
          <p:cNvPr id="8" name="Text 5"/>
          <p:cNvSpPr/>
          <p:nvPr/>
        </p:nvSpPr>
        <p:spPr>
          <a:xfrm>
            <a:off x="1155373" y="2318147"/>
            <a:ext cx="10256581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125 kg story in unglamorous specifics</a:t>
            </a:r>
            <a:endParaRPr lang="en-US" sz="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3/month</a:t>
            </a:r>
            <a:endParaRPr lang="en-US" sz="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793802"/>
            <a:ext cx="10868745" cy="7352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6132" y="3062387"/>
            <a:ext cx="158349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55373" y="2912070"/>
            <a:ext cx="10256581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ar-SA" altLang="en-US" sz="10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Busy Man's Protocol · بروتوكول المشغول</a:t>
            </a:r>
            <a:endParaRPr lang="ar-SA" sz="1000" dirty="0"/>
          </a:p>
        </p:txBody>
      </p:sp>
      <p:sp>
        <p:nvSpPr>
          <p:cNvPr id="12" name="Text 8"/>
          <p:cNvSpPr/>
          <p:nvPr/>
        </p:nvSpPr>
        <p:spPr>
          <a:xfrm>
            <a:off x="1155373" y="3112294"/>
            <a:ext cx="10256581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actual system, 60–90s teaching</a:t>
            </a:r>
            <a:endParaRPr lang="en-US" sz="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5/month</a:t>
            </a:r>
            <a:endParaRPr lang="en-US" sz="8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587948"/>
            <a:ext cx="10868745" cy="73521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6132" y="3856534"/>
            <a:ext cx="158349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155373" y="3706217"/>
            <a:ext cx="10256581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ar-SA" altLang="en-US" sz="10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Myths · خرافات</a:t>
            </a:r>
            <a:endParaRPr lang="ar-SA" sz="1000" dirty="0"/>
          </a:p>
        </p:txBody>
      </p:sp>
      <p:sp>
        <p:nvSpPr>
          <p:cNvPr id="16" name="Text 11"/>
          <p:cNvSpPr/>
          <p:nvPr/>
        </p:nvSpPr>
        <p:spPr>
          <a:xfrm>
            <a:off x="1155373" y="3906441"/>
            <a:ext cx="10256581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Myths taken apart, told as his stories</a:t>
            </a:r>
            <a:endParaRPr lang="en-US" sz="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3/month</a:t>
            </a:r>
            <a:endParaRPr lang="en-US" sz="8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382095"/>
            <a:ext cx="10868745" cy="73521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6132" y="4650680"/>
            <a:ext cx="158349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155373" y="4500364"/>
            <a:ext cx="10256581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ar-SA" altLang="en-US" sz="10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Why?! · ليش؟!</a:t>
            </a:r>
            <a:endParaRPr lang="ar-SA" sz="1000" dirty="0"/>
          </a:p>
        </p:txBody>
      </p:sp>
      <p:sp>
        <p:nvSpPr>
          <p:cNvPr id="20" name="Text 14"/>
          <p:cNvSpPr/>
          <p:nvPr/>
        </p:nvSpPr>
        <p:spPr>
          <a:xfrm>
            <a:off x="1155373" y="4700588"/>
            <a:ext cx="10256581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Family as the reason, the pillar wives share</a:t>
            </a:r>
            <a:endParaRPr lang="en-US" sz="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3/month</a:t>
            </a:r>
            <a:endParaRPr lang="en-US" sz="8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176242"/>
            <a:ext cx="10868745" cy="73521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6132" y="5444827"/>
            <a:ext cx="158349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155373" y="5294511"/>
            <a:ext cx="10256581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ar-SA" altLang="en-US" sz="10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· الفرق</a:t>
            </a:r>
            <a:endParaRPr lang="ar-SA" sz="1000" dirty="0"/>
          </a:p>
        </p:txBody>
      </p:sp>
      <p:sp>
        <p:nvSpPr>
          <p:cNvPr id="24" name="Text 17"/>
          <p:cNvSpPr/>
          <p:nvPr/>
        </p:nvSpPr>
        <p:spPr>
          <a:xfrm>
            <a:off x="1155373" y="5494734"/>
            <a:ext cx="10256581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Vlogs, events, work, SQUATWOLF</a:t>
            </a:r>
            <a:endParaRPr lang="en-US" sz="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2/month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661475" y="5977731"/>
            <a:ext cx="10868745" cy="296366"/>
          </a:xfrm>
          <a:prstGeom prst="roundRect">
            <a:avLst>
              <a:gd name="adj" fmla="val 5344"/>
            </a:avLst>
          </a:prstGeom>
          <a:solidFill>
            <a:srgbClr val="5F3420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041" y="6063059"/>
            <a:ext cx="131958" cy="10556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4565" y="6063059"/>
            <a:ext cx="1102967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Gym footage is not a pillar. It is background texture.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53621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5559"/>
            <a:ext cx="10868745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Content Engine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490464"/>
            <a:ext cx="5241496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25 Reel Ideas from the Strategy Notes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1869877"/>
            <a:ext cx="5241496" cy="697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22000"/>
              </a:lnSpc>
              <a:buNone/>
            </a:pPr>
            <a:r>
              <a:rPr lang="ar-SA" altLang="en-US" sz="12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الصورة اللي خلتني أبلش (the photo that made me start) · قاعدة اليوم الرابع (the 4th-day rule) · the cheat meal · لما بنتي طلبت تلعب معي وما قدرت · لما يصير عمري 65 بدي كون متل عمرو دياب · يوم بحياتي.</a:t>
            </a:r>
            <a:endParaRPr lang="ar-SA" sz="1200" dirty="0"/>
          </a:p>
        </p:txBody>
      </p:sp>
      <p:sp>
        <p:nvSpPr>
          <p:cNvPr id="5" name="Text 3"/>
          <p:cNvSpPr/>
          <p:nvPr/>
        </p:nvSpPr>
        <p:spPr>
          <a:xfrm>
            <a:off x="661475" y="2699246"/>
            <a:ext cx="5241496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Stories — Daily and Raw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61475" y="3078659"/>
            <a:ext cx="5241496" cy="190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Food and weight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6:45am gym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Old Reel with a new comment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Events and runs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Podcast behind the scenes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Q&amp;A box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Training while travelling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95074" y="1490464"/>
            <a:ext cx="5241496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Production System</a:t>
            </a:r>
            <a:endParaRPr lang="en-US" sz="1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5074" y="1886446"/>
            <a:ext cx="2554620" cy="1663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48472" y="2063651"/>
            <a:ext cx="2124022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Batch Filming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548472" y="2443063"/>
            <a:ext cx="2124022" cy="929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90-minute weekly session, change T-shirts between takes → 6 Reels (4 published, 2 banked)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81950" y="1886446"/>
            <a:ext cx="2554620" cy="1663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35348" y="2063651"/>
            <a:ext cx="2124022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Better Editing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9235348" y="2443063"/>
            <a:ext cx="2124022" cy="697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Burned-in Arabic captions, punch-in zooms, numbers in Ember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5074" y="3682008"/>
            <a:ext cx="2554620" cy="143093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48472" y="3859212"/>
            <a:ext cx="2124022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Hashtags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6548472" y="4238625"/>
            <a:ext cx="2124022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Exactly five per post, matched to the pillar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1950" y="3682008"/>
            <a:ext cx="2554620" cy="143093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35348" y="3859212"/>
            <a:ext cx="2124022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Caption Formula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9235348" y="4238625"/>
            <a:ext cx="2124022" cy="697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Hook · the specific thing with a number · CTA keyword · one real question · five hashtags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95074" y="5261769"/>
            <a:ext cx="5241496" cy="781844"/>
          </a:xfrm>
          <a:prstGeom prst="roundRect">
            <a:avLst>
              <a:gd name="adj" fmla="val 3034"/>
            </a:avLst>
          </a:prstGeom>
          <a:solidFill>
            <a:srgbClr val="450707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3224" y="5472906"/>
            <a:ext cx="197639" cy="15815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09014" y="5420320"/>
            <a:ext cx="4569405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Stop immediately:</a:t>
            </a: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reposted voiceovers · silent gym montages · clips under 10 seconds · follow-for-follow.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531639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2116"/>
            <a:ext cx="10868745" cy="359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Growth Plays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81584"/>
            <a:ext cx="4631316" cy="2894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54872"/>
            <a:ext cx="287529" cy="2875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4429919"/>
            <a:ext cx="3564543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Two Client Cases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61475" y="4651573"/>
            <a:ext cx="3564543" cy="443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ar-SA" altLang="en-US" sz="9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 → build evidence in the CRM → written consent → reveal. Timing is driven by real results, not a date. Then the website's نتائج section goes live.</a:t>
            </a:r>
            <a:endParaRPr lang="ar-SA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3526" y="4054872"/>
            <a:ext cx="287529" cy="28753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13526" y="4429919"/>
            <a:ext cx="3564543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Podcast Host with Well-Known Guests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4313526" y="4651573"/>
            <a:ext cx="3564543" cy="295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Successful people and the price their bodies paid. One episode a month; each yields 4–6 spoken Reels and a collab post.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5578" y="4054872"/>
            <a:ext cx="287529" cy="28753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65578" y="4429919"/>
            <a:ext cx="3564543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ar-SA" altLang="en-US" sz="11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Serialised Transformation · المسلسل</a:t>
            </a:r>
            <a:endParaRPr lang="ar-SA" sz="1100" dirty="0"/>
          </a:p>
        </p:txBody>
      </p:sp>
      <p:sp>
        <p:nvSpPr>
          <p:cNvPr id="12" name="Text 6"/>
          <p:cNvSpPr/>
          <p:nvPr/>
        </p:nvSpPr>
        <p:spPr>
          <a:xfrm>
            <a:off x="7965578" y="4651573"/>
            <a:ext cx="3564543" cy="295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ar-SA" altLang="en-US" sz="9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 pillar as a 12-episode weekly series. "تابعني تشوف الحلقة الجاية" becomes an honest reason to follow.</a:t>
            </a:r>
            <a:endParaRPr lang="ar-SA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235377"/>
            <a:ext cx="287529" cy="28753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1475" y="5610423"/>
            <a:ext cx="3564543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Borrowed Audiences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661475" y="5832078"/>
            <a:ext cx="3564543" cy="295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SQUATWOLF feature or takeover · six podcast guest spots in six months · collabs with Riyadh gyms · joint content with his wife.</a:t>
            </a:r>
            <a:endParaRPr lang="en-US" sz="9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13526" y="5235377"/>
            <a:ext cx="287529" cy="28753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313526" y="5610423"/>
            <a:ext cx="3564543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Fix the Profile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4313526" y="5832078"/>
            <a:ext cx="3564543" cy="443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ar-SA" altLang="en-US" sz="9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name field وليد كتور | من 125 كيلو · new Arabic bio · website link · face-forward photo · pinned Reels · Highlights: قصتي · قبل وبعد · البروتوكول · خرافات · عائلتي</a:t>
            </a:r>
            <a:endParaRPr lang="ar-SA" sz="900" dirty="0"/>
          </a:p>
        </p:txBody>
      </p:sp>
    </p:spTree>
    <p:extLst>
      <p:ext uri="{BB962C8B-B14F-4D97-AF65-F5344CB8AC3E}">
        <p14:creationId xmlns:p14="http://schemas.microsoft.com/office/powerpoint/2010/main" val="1782454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098"/>
            <a:ext cx="10868745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Roadmap: 90 Days, Then 12 Months</a:t>
            </a:r>
            <a:endParaRPr lang="en-US" sz="2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080790"/>
          <a:ext cx="9143771" cy="914400"/>
        </p:xfrm>
        <a:graphic>
          <a:graphicData uri="http://schemas.openxmlformats.org/drawingml/2006/table">
            <a:tbl>
              <a:tblPr/>
              <a:tblGrid>
                <a:gridCol w="2717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9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When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8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Social Media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8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Website + CRM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8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Automation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8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Week 1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Profile fixes, Insights baseline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Discovery, pricing decision, design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Channel build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Weeks 2–4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Full schedule live, series ep. 1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Website and CRM build, forms drafted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Comment-to-DM, tracked links, DM assistant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2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Month 2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First collab, podcast ep. 1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Launch, bio link switched, calendar live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WhatsApp assistant, booking flow, reminders, PDFs, renewals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1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Month 3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Review slots and pillars against data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Improvements; results section prepared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InBody reading, monthly report, AI plan builder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2830513"/>
            <a:ext cx="1086874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12-Month Ladder (a target, not a guarantee)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089498" y="3128963"/>
            <a:ext cx="12700" cy="2761952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6" name="Shape 3"/>
          <p:cNvSpPr/>
          <p:nvPr/>
        </p:nvSpPr>
        <p:spPr>
          <a:xfrm>
            <a:off x="5870527" y="3256459"/>
            <a:ext cx="238020" cy="12700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7" name="Shape 4"/>
          <p:cNvSpPr/>
          <p:nvPr/>
        </p:nvSpPr>
        <p:spPr>
          <a:xfrm>
            <a:off x="6051250" y="3218210"/>
            <a:ext cx="89195" cy="89198"/>
          </a:xfrm>
          <a:prstGeom prst="ellipse">
            <a:avLst/>
          </a:prstGeom>
          <a:solidFill>
            <a:srgbClr val="84482D"/>
          </a:solidFill>
          <a:ln/>
        </p:spPr>
      </p:sp>
      <p:sp>
        <p:nvSpPr>
          <p:cNvPr id="3" name="Text 5"/>
          <p:cNvSpPr/>
          <p:nvPr/>
        </p:nvSpPr>
        <p:spPr>
          <a:xfrm>
            <a:off x="661475" y="3169841"/>
            <a:ext cx="495833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61475" y="3400822"/>
            <a:ext cx="4958333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9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Format fixed, 1,500 median views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83148" y="3882330"/>
            <a:ext cx="238020" cy="12700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11" name="Shape 8"/>
          <p:cNvSpPr/>
          <p:nvPr/>
        </p:nvSpPr>
        <p:spPr>
          <a:xfrm>
            <a:off x="6051250" y="3844082"/>
            <a:ext cx="89195" cy="89198"/>
          </a:xfrm>
          <a:prstGeom prst="ellipse">
            <a:avLst/>
          </a:prstGeom>
          <a:solidFill>
            <a:srgbClr val="84482D"/>
          </a:solidFill>
          <a:ln/>
        </p:spPr>
      </p:sp>
      <p:sp>
        <p:nvSpPr>
          <p:cNvPr id="12" name="Text 9"/>
          <p:cNvSpPr/>
          <p:nvPr/>
        </p:nvSpPr>
        <p:spPr>
          <a:xfrm>
            <a:off x="6571887" y="3795713"/>
            <a:ext cx="495833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M3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71887" y="4026694"/>
            <a:ext cx="4958333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3,000–5,000 followers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70527" y="4453731"/>
            <a:ext cx="238020" cy="12700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15" name="Shape 12"/>
          <p:cNvSpPr/>
          <p:nvPr/>
        </p:nvSpPr>
        <p:spPr>
          <a:xfrm>
            <a:off x="6051250" y="4415482"/>
            <a:ext cx="89195" cy="89198"/>
          </a:xfrm>
          <a:prstGeom prst="ellipse">
            <a:avLst/>
          </a:prstGeom>
          <a:solidFill>
            <a:srgbClr val="84482D"/>
          </a:solidFill>
          <a:ln/>
        </p:spPr>
      </p:sp>
      <p:sp>
        <p:nvSpPr>
          <p:cNvPr id="16" name="Text 13"/>
          <p:cNvSpPr/>
          <p:nvPr/>
        </p:nvSpPr>
        <p:spPr>
          <a:xfrm>
            <a:off x="661475" y="4367113"/>
            <a:ext cx="495833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M6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61475" y="4598095"/>
            <a:ext cx="4958333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9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10,000–15,000 followers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83148" y="5025231"/>
            <a:ext cx="238020" cy="12700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19" name="Shape 16"/>
          <p:cNvSpPr/>
          <p:nvPr/>
        </p:nvSpPr>
        <p:spPr>
          <a:xfrm>
            <a:off x="6051250" y="4986982"/>
            <a:ext cx="89195" cy="89198"/>
          </a:xfrm>
          <a:prstGeom prst="ellipse">
            <a:avLst/>
          </a:prstGeom>
          <a:solidFill>
            <a:srgbClr val="84482D"/>
          </a:solidFill>
          <a:ln/>
        </p:spPr>
      </p:sp>
      <p:sp>
        <p:nvSpPr>
          <p:cNvPr id="20" name="Text 17"/>
          <p:cNvSpPr/>
          <p:nvPr/>
        </p:nvSpPr>
        <p:spPr>
          <a:xfrm>
            <a:off x="6571887" y="4938613"/>
            <a:ext cx="495833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M12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71887" y="5169595"/>
            <a:ext cx="4958333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30,000+ and inbound brand deals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39965" y="6059388"/>
            <a:ext cx="11299840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Months 1–2 will feel like nothing is happening. That is when most people quit, and it's the stretch that decides the outcome.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61475" y="5975152"/>
            <a:ext cx="12700" cy="323652"/>
          </a:xfrm>
          <a:prstGeom prst="roundRect">
            <a:avLst>
              <a:gd name="adj" fmla="val 49999"/>
            </a:avLst>
          </a:prstGeom>
          <a:solidFill>
            <a:srgbClr val="84482D"/>
          </a:solidFill>
          <a:ln/>
        </p:spPr>
      </p:sp>
    </p:spTree>
    <p:extLst>
      <p:ext uri="{BB962C8B-B14F-4D97-AF65-F5344CB8AC3E}">
        <p14:creationId xmlns:p14="http://schemas.microsoft.com/office/powerpoint/2010/main" val="3448420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1768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Measurement, Guardrails &amp; 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235273"/>
            <a:ext cx="695972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Funnel We Report Monthly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454" y="1517055"/>
            <a:ext cx="4523766" cy="2472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75981" y="2675350"/>
            <a:ext cx="1048196" cy="142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Leads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122854" y="2659266"/>
            <a:ext cx="1048196" cy="142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Calls Booked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829841" y="2664416"/>
            <a:ext cx="1048195" cy="142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Clients Closed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61475" y="4078883"/>
            <a:ext cx="75693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Monthly report + 30-minute review: keep, change, stop.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61475" y="4320778"/>
            <a:ext cx="695972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Guardrails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775" y="4589859"/>
            <a:ext cx="2266000" cy="7835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9704" y="4602559"/>
            <a:ext cx="210507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Medical Line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09704" y="4874320"/>
            <a:ext cx="2105072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medical claims, no supplement protocols, no calorie prescriptions. The back story is told as story only.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1887" y="4589859"/>
            <a:ext cx="2266100" cy="7835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62816" y="4602559"/>
            <a:ext cx="210517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His Dialect, Not Ours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162816" y="4874320"/>
            <a:ext cx="2105171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Waleed reads every Arabic line aloud before it goes public.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55099" y="4589859"/>
            <a:ext cx="2266000" cy="7835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16028" y="4602559"/>
            <a:ext cx="210507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Consent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516028" y="4874320"/>
            <a:ext cx="2105072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 photos published only with separate written permission, withdrawable.</a:t>
            </a:r>
            <a:endParaRPr lang="en-US" sz="9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775" y="5507633"/>
            <a:ext cx="2266000" cy="62140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09704" y="5520333"/>
            <a:ext cx="210507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Client Data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809704" y="5792093"/>
            <a:ext cx="2105072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Saudi PDPL, encrypted, access-limited.</a:t>
            </a:r>
            <a:endParaRPr lang="en-US" sz="9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01887" y="5507633"/>
            <a:ext cx="2266100" cy="62140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162816" y="5520333"/>
            <a:ext cx="210517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Platform Rules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3162816" y="5792093"/>
            <a:ext cx="2105171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Meta-approved templates, opt-in, no mass unsolicited DMs.</a:t>
            </a:r>
            <a:endParaRPr lang="en-US" sz="9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55099" y="5507633"/>
            <a:ext cx="2266000" cy="62140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516028" y="5520333"/>
            <a:ext cx="210507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Honest Numbers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5516028" y="5792093"/>
            <a:ext cx="2105072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public claim is true and checkable.</a:t>
            </a:r>
            <a:endParaRPr lang="en-US" sz="950" dirty="0"/>
          </a:p>
        </p:txBody>
      </p:sp>
      <p:sp>
        <p:nvSpPr>
          <p:cNvPr id="28" name="Text 19"/>
          <p:cNvSpPr/>
          <p:nvPr/>
        </p:nvSpPr>
        <p:spPr>
          <a:xfrm>
            <a:off x="7927181" y="1825427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Decisions to Confirm Before Launch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7927181" y="2097187"/>
            <a:ext cx="3609289" cy="241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Years in the events industry: 10 or 20?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 age on his first day back at the gym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Show the price on the website, or book a call?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two client cases: who, and will they consent?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Font typeface="+mj-lt"/>
              <a:buAutoNum type="arabicPeriod" startAt="5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 he film one 90-minute session every week?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Font typeface="+mj-lt"/>
              <a:buAutoNum type="arabicPeriod" startAt="6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Keep the Sunday slot for four weeks?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Font typeface="+mj-lt"/>
              <a:buAutoNum type="arabicPeriod" startAt="7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Weekly link: check-in form (recommended) or full registration?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Font typeface="+mj-lt"/>
              <a:buAutoNum type="arabicPeriod" startAt="8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 assistant on Telegram, WhatsApp, or both?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Font typeface="+mj-lt"/>
              <a:buAutoNum type="arabicPeriod" startAt="9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 clients have access to InBody scans?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Font typeface="+mj-lt"/>
              <a:buAutoNum type="arabicPeriod" startAt="10"/>
            </a:pPr>
            <a:r>
              <a:rPr lang="ar-SA" altLang="en-US" sz="95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 M2: «الكرش وراثة»?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Font typeface="+mj-lt"/>
              <a:buAutoNum type="arabicPeriod" startAt="11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Podcast name, first guests, recording location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Font typeface="+mj-lt"/>
              <a:buAutoNum type="arabicPeriod" startAt="12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Access: Instagram Insights, Meta Business Suite, calendar</a:t>
            </a:r>
            <a:endParaRPr lang="en-US" sz="950" dirty="0"/>
          </a:p>
        </p:txBody>
      </p:sp>
      <p:sp>
        <p:nvSpPr>
          <p:cNvPr id="30" name="Shape 21"/>
          <p:cNvSpPr/>
          <p:nvPr/>
        </p:nvSpPr>
        <p:spPr>
          <a:xfrm>
            <a:off x="7927181" y="4601270"/>
            <a:ext cx="3609289" cy="529233"/>
          </a:xfrm>
          <a:prstGeom prst="roundRect">
            <a:avLst>
              <a:gd name="adj" fmla="val 3482"/>
            </a:avLst>
          </a:prstGeom>
          <a:solidFill>
            <a:srgbClr val="5F3420"/>
          </a:solidFill>
          <a:ln/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0011" y="4731147"/>
            <a:ext cx="153488" cy="12283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8326328" y="4703763"/>
            <a:ext cx="308731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Next step:</a:t>
            </a: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answer these in week 1, grant access, and book the first filming session.</a:t>
            </a:r>
            <a:endParaRPr lang="en-US" sz="950" dirty="0"/>
          </a:p>
        </p:txBody>
      </p:sp>
      <p:sp>
        <p:nvSpPr>
          <p:cNvPr id="33" name="Text 23"/>
          <p:cNvSpPr/>
          <p:nvPr/>
        </p:nvSpPr>
        <p:spPr>
          <a:xfrm>
            <a:off x="7317597" y="5292130"/>
            <a:ext cx="40346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ar-SA" altLang="en-US" sz="950" b="1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ولما تكسبها، بتصير ملك الدنيا.</a:t>
            </a:r>
            <a:endParaRPr lang="ar-SA" sz="950" dirty="0"/>
          </a:p>
        </p:txBody>
      </p:sp>
      <p:sp>
        <p:nvSpPr>
          <p:cNvPr id="34" name="Shape 24"/>
          <p:cNvSpPr/>
          <p:nvPr/>
        </p:nvSpPr>
        <p:spPr>
          <a:xfrm>
            <a:off x="11523771" y="5220295"/>
            <a:ext cx="12700" cy="305792"/>
          </a:xfrm>
          <a:prstGeom prst="roundRect">
            <a:avLst>
              <a:gd name="adj" fmla="val 49999"/>
            </a:avLst>
          </a:prstGeom>
          <a:solidFill>
            <a:srgbClr val="84482D"/>
          </a:solidFill>
          <a:ln/>
        </p:spPr>
      </p:sp>
    </p:spTree>
    <p:extLst>
      <p:ext uri="{BB962C8B-B14F-4D97-AF65-F5344CB8AC3E}">
        <p14:creationId xmlns:p14="http://schemas.microsoft.com/office/powerpoint/2010/main" val="3778898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3733</Words>
  <Application>Microsoft Office PowerPoint</Application>
  <PresentationFormat>Widescreen</PresentationFormat>
  <Paragraphs>497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Manrope</vt:lpstr>
      <vt:lpstr>Prata</vt:lpstr>
      <vt:lpstr>Arial</vt:lpstr>
      <vt:lpstr>Manrope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Sameh</cp:lastModifiedBy>
  <cp:revision>2</cp:revision>
  <dcterms:created xsi:type="dcterms:W3CDTF">2026-09-21T09:30:47Z</dcterms:created>
  <dcterms:modified xsi:type="dcterms:W3CDTF">2026-09-21T09:45:55Z</dcterms:modified>
</cp:coreProperties>
</file>