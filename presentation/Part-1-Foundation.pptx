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Manrope"/>
      <p:regular r:id="rId201314"/>
    </p:embeddedFont>
    <p:embeddedFont>
      <p:font typeface="Manrope Bold"/>
      <p:regular r:id="rId201315"/>
    </p:embeddedFont>
    <p:embeddedFont>
      <p:font typeface="Prata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5.png"/><Relationship Id="rId8" Type="http://schemas.openxmlformats.org/officeDocument/2006/relationships/image" Target="../media/image-8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69615"/>
            <a:ext cx="5588456" cy="34927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215309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Waleed Katoor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4689773"/>
            <a:ext cx="1086874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Executive Longevity · Digital Growth Strategy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61475" y="5174159"/>
            <a:ext cx="1066059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ar-SA" altLang="en-US" sz="1050" b="1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بتشتريها. بتكسبها.</a:t>
            </a:r>
            <a:endParaRPr lang="ar-SA" sz="1050" dirty="0"/>
          </a:p>
          <a:p>
            <a:pPr rtl="1" algn="r" indent="0" marL="0">
              <a:lnSpc>
                <a:spcPct val="116000"/>
              </a:lnSpc>
              <a:buNone/>
            </a:pPr>
            <a:r>
              <a:rPr lang="ar-SA" alt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"You cannot buy your health. You will earn it." — Waleed Katoor</a:t>
            </a:r>
            <a:endParaRPr lang="ar-SA" sz="1050" dirty="0"/>
          </a:p>
        </p:txBody>
      </p:sp>
      <p:sp>
        <p:nvSpPr>
          <p:cNvPr id="6" name="Shape 3"/>
          <p:cNvSpPr/>
          <p:nvPr/>
        </p:nvSpPr>
        <p:spPr>
          <a:xfrm>
            <a:off x="11511171" y="5059561"/>
            <a:ext cx="19050" cy="614363"/>
          </a:xfrm>
          <a:prstGeom prst="roundRect">
            <a:avLst>
              <a:gd name="adj" fmla="val 49999"/>
            </a:avLst>
          </a:prstGeom>
          <a:solidFill>
            <a:srgbClr val="84482D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5788521"/>
            <a:ext cx="10868745" cy="49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connected system that turns attention into booked calls, calls into clients, and clients into proof.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by Vida AI · Steven Ayman · Mario Wagyih Gomaa · Sameh Usama Shukry ·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1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plan on one page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09824"/>
            <a:ext cx="10868745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Waleed went from roughly 125 kg to athletic at 44 while running a director-level job and raising three daughters. He isn't selling fitness. He is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proof that a busy man can recover his health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 that story doesn't turn into business: 1,209 posts, 1,232 followers, no website, no booking path, no client system. But the account is moving: the last 30 days ran at 1,023 median views against 827 before.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This is a build, not a rescue.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244751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3433763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Social Media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842445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Creates demand: 4 Reels a week + a Saturday carousel, Arabic-first, him on camera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3244751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8" name="Text 6"/>
          <p:cNvSpPr/>
          <p:nvPr/>
        </p:nvSpPr>
        <p:spPr>
          <a:xfrm>
            <a:off x="6379308" y="3433763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Website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9308" y="3842445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Converts: one page, eight sections, a calendar wired into automation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825305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850482" y="501431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CRM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0482" y="5422999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Runs the coaching: dashboard, client profiles, progress, payments, voice notes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4825305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14" name="Text 12"/>
          <p:cNvSpPr/>
          <p:nvPr/>
        </p:nvSpPr>
        <p:spPr>
          <a:xfrm>
            <a:off x="6379308" y="501431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Automation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9308" y="5422999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Removes the admin: nine client automations + a leads engine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188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Five decisions that shape everything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980380"/>
            <a:ext cx="10868745" cy="64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8513" y="120213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65295" y="110053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Proof, not coach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65295" y="130502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shares what worked on him and sends people to specialists for the details.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86520"/>
            <a:ext cx="10868745" cy="64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8513" y="190827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65295" y="180667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 speaks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65295" y="201116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Reels where he talks earn nearly twice the views (1,622 vs 822) and 3× the likes.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392660"/>
            <a:ext cx="10868745" cy="645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513" y="261441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65295" y="251281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Arabic first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165295" y="271730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 growth audience thinks in Arabic. Captions burned into every video.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098800"/>
            <a:ext cx="10868745" cy="6450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8513" y="332055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65295" y="321895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 enters the data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165295" y="342344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Forms and WhatsApp do the typing — not Waleed.</a:t>
            </a:r>
            <a:endParaRPr lang="en-US" sz="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804940"/>
            <a:ext cx="10868745" cy="6450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8513" y="402669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165295" y="392509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Channels before automation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65295" y="412958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WhatsApp, Instagram and Facebook are set up properly first.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1605815" y="4572397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1,500</a:t>
            </a:r>
            <a:endParaRPr lang="en-US" sz="2750" dirty="0"/>
          </a:p>
        </p:txBody>
      </p:sp>
      <p:sp>
        <p:nvSpPr>
          <p:cNvPr id="24" name="Text 17"/>
          <p:cNvSpPr/>
          <p:nvPr/>
        </p:nvSpPr>
        <p:spPr>
          <a:xfrm>
            <a:off x="661475" y="5026720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Median views target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61475" y="5231209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Up from 859 in 30 days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7078386" y="4572397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65%</a:t>
            </a:r>
            <a:endParaRPr lang="en-US" sz="2750" dirty="0"/>
          </a:p>
        </p:txBody>
      </p:sp>
      <p:sp>
        <p:nvSpPr>
          <p:cNvPr id="27" name="Text 20"/>
          <p:cNvSpPr/>
          <p:nvPr/>
        </p:nvSpPr>
        <p:spPr>
          <a:xfrm>
            <a:off x="6134046" y="5026720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Talking-head Reels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134046" y="5231209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Up from 13% of output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605815" y="5542062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&lt;10%</a:t>
            </a:r>
            <a:endParaRPr lang="en-US" sz="2750" dirty="0"/>
          </a:p>
        </p:txBody>
      </p:sp>
      <p:sp>
        <p:nvSpPr>
          <p:cNvPr id="30" name="Text 23"/>
          <p:cNvSpPr/>
          <p:nvPr/>
        </p:nvSpPr>
        <p:spPr>
          <a:xfrm>
            <a:off x="661475" y="5996384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Zero-comment Reels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61475" y="6200874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Down from 34%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7078386" y="5542062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1.0</a:t>
            </a:r>
            <a:endParaRPr lang="en-US" sz="2750" dirty="0"/>
          </a:p>
        </p:txBody>
      </p:sp>
      <p:sp>
        <p:nvSpPr>
          <p:cNvPr id="33" name="Text 26"/>
          <p:cNvSpPr/>
          <p:nvPr/>
        </p:nvSpPr>
        <p:spPr>
          <a:xfrm>
            <a:off x="6134046" y="5996384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Following:follower ratio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134046" y="6200874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Down from 1.71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44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Where we start: the audit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8508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of 85 Reels, 22 Nov 2025 – 12 Sep 2026.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3285" y="1673920"/>
            <a:ext cx="2650662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1,232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2292251"/>
            <a:ext cx="3534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Followers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2577405"/>
            <a:ext cx="353428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2,107 following — ratio 1.71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70417" y="1673920"/>
            <a:ext cx="2650761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1,209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328607" y="2292251"/>
            <a:ext cx="3534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28607" y="2577405"/>
            <a:ext cx="35343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website, no booking path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37649" y="1673920"/>
            <a:ext cx="2650761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859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7995839" y="2292251"/>
            <a:ext cx="3534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Median views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95839" y="2577405"/>
            <a:ext cx="35343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~0.70× his follower count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1475" y="2895402"/>
            <a:ext cx="10868745" cy="471190"/>
          </a:xfrm>
          <a:prstGeom prst="roundRect">
            <a:avLst>
              <a:gd name="adj" fmla="val 4513"/>
            </a:avLst>
          </a:prstGeom>
          <a:solidFill>
            <a:srgbClr val="4B3F0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56" y="3052763"/>
            <a:ext cx="177200" cy="1416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22037" y="3037086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 account bio link points to one YouTube episode. Name field is English only —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 one searching in Arabic can find him.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1475" y="3526036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finding that drives the content plan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906937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341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He speaks on camera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Montage over a track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Someone else's audio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Share of output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Median views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1,622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822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Median likes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57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14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341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Zero-comment rate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36%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46%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61475" y="5757267"/>
            <a:ext cx="10868745" cy="471190"/>
          </a:xfrm>
          <a:prstGeom prst="roundRect">
            <a:avLst>
              <a:gd name="adj" fmla="val 4513"/>
            </a:avLst>
          </a:prstGeom>
          <a:solidFill>
            <a:srgbClr val="450707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6" y="5914628"/>
            <a:ext cx="177200" cy="1416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22037" y="5898952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87% of his production effort goes into the formats that perform worst.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0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the data says to do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4037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Content Pillars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78323"/>
            <a:ext cx="4704141" cy="33869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659" y="154037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Tactical Decisions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1978323"/>
            <a:ext cx="2536861" cy="1831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74963" y="2167434"/>
            <a:ext cx="20824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 at 20:00 KSA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574963" y="2586236"/>
            <a:ext cx="208245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19:00–21:00 performs best. After midnight is the worst slot (334 median views).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9610" y="1978323"/>
            <a:ext cx="2536960" cy="1831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4914" y="2167434"/>
            <a:ext cx="20825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60–120s length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264914" y="2586236"/>
            <a:ext cx="20825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engagement at 3.8%. Teaching Reels run 45–90s, nothing under 10s.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9659" y="3962698"/>
            <a:ext cx="2536861" cy="20969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74963" y="4151809"/>
            <a:ext cx="208245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Friday &amp; Tuesday anchor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574963" y="4836319"/>
            <a:ext cx="208245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Friday (1,163) and Tuesday (1,082) are anchors; Sunday (579) tested for 4 weeks.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9610" y="3962698"/>
            <a:ext cx="2536960" cy="20969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64914" y="4151809"/>
            <a:ext cx="20825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 targeted hashtags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9264914" y="4570611"/>
            <a:ext cx="20825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Used on only 2 of 85 Reels. Five targeted tags per post from now 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80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Brand foundation: executive longevity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681758"/>
            <a:ext cx="2522375" cy="2210495"/>
          </a:xfrm>
          <a:prstGeom prst="roundRect">
            <a:avLst>
              <a:gd name="adj" fmla="val 1219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840957" y="1861245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Where he is now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0957" y="2312293"/>
            <a:ext cx="216341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fitness creator competing with 25-year-old coaches on looks and volume.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54403" y="1681758"/>
            <a:ext cx="2522375" cy="2210495"/>
          </a:xfrm>
          <a:prstGeom prst="roundRect">
            <a:avLst>
              <a:gd name="adj" fmla="val 1219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3533885" y="1861245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Where he goes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533885" y="2312293"/>
            <a:ext cx="2163411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longevity. Health as the asset that protects the career, the marriage and the years ahead.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4062809"/>
            <a:ext cx="2522375" cy="1930400"/>
          </a:xfrm>
          <a:prstGeom prst="roundRect">
            <a:avLst>
              <a:gd name="adj" fmla="val 1395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840957" y="4242296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enemy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40957" y="4693345"/>
            <a:ext cx="216341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belief that success costs you your body, and that this is a fair, temporary price.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4403" y="4062809"/>
            <a:ext cx="2522375" cy="1930400"/>
          </a:xfrm>
          <a:prstGeom prst="roundRect">
            <a:avLst>
              <a:gd name="adj" fmla="val 1395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3533885" y="4242296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 role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533885" y="4693345"/>
            <a:ext cx="216341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Proof, not coach. "I am not a specialist. Go to a specialist for the details."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1889" y="1489869"/>
            <a:ext cx="5474059" cy="4695230"/>
          </a:xfrm>
          <a:prstGeom prst="roundRect">
            <a:avLst>
              <a:gd name="adj" fmla="val 574"/>
            </a:avLst>
          </a:prstGeom>
          <a:solidFill>
            <a:srgbClr val="84482D"/>
          </a:solidFill>
          <a:ln/>
        </p:spPr>
      </p:sp>
      <p:sp>
        <p:nvSpPr>
          <p:cNvPr id="16" name="Text 14"/>
          <p:cNvSpPr/>
          <p:nvPr/>
        </p:nvSpPr>
        <p:spPr>
          <a:xfrm>
            <a:off x="6371371" y="1660426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Positioning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371371" y="2111474"/>
            <a:ext cx="5115095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Arab professional man past forty who has built everything except his health, Waleed Katoor is the proof that it is recoverable: a business director who went from 125 kg to athletic at 44 and explains exactly how, in the language his audience thinks in.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71371" y="3748683"/>
            <a:ext cx="5115095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71371" y="4010819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brand line, in his words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761786" y="4636691"/>
            <a:ext cx="54554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فيك تشتري صحتك. رح تكسبها. ولما تكسبها، بتصير ملك الدنيا.</a:t>
            </a:r>
            <a:endParaRPr lang="ar-SA" sz="1400" dirty="0"/>
          </a:p>
        </p:txBody>
      </p:sp>
      <p:sp>
        <p:nvSpPr>
          <p:cNvPr id="21" name="Shape 19"/>
          <p:cNvSpPr/>
          <p:nvPr/>
        </p:nvSpPr>
        <p:spPr>
          <a:xfrm>
            <a:off x="11461066" y="4483199"/>
            <a:ext cx="25399" cy="587077"/>
          </a:xfrm>
          <a:prstGeom prst="roundRect">
            <a:avLst>
              <a:gd name="adj" fmla="val 50001"/>
            </a:avLst>
          </a:prstGeom>
          <a:solidFill>
            <a:srgbClr val="8448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19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Who we talk to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95214"/>
            <a:ext cx="1194961" cy="215305"/>
          </a:xfrm>
          <a:prstGeom prst="roundRect">
            <a:avLst>
              <a:gd name="adj" fmla="val 7901"/>
            </a:avLst>
          </a:prstGeom>
          <a:solidFill>
            <a:srgbClr val="391F13"/>
          </a:solidFill>
          <a:ln/>
        </p:spPr>
      </p:sp>
      <p:sp>
        <p:nvSpPr>
          <p:cNvPr id="4" name="Text 2"/>
          <p:cNvSpPr/>
          <p:nvPr/>
        </p:nvSpPr>
        <p:spPr>
          <a:xfrm>
            <a:off x="746503" y="1437680"/>
            <a:ext cx="16344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AUDIENCE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1475" y="1652984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"The 2AM email man"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1980704"/>
            <a:ext cx="5261439" cy="1376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 38–55 in Riyadh, Jeddah, Dubai, Doha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Director level or business owner, 90–130 kg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Has started and quit three or more times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Has money but no time, and stopped believing any plan fits his schedule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to four children; a recent photo made him uncomfortable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Consumes in Arabic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475" y="3476923"/>
            <a:ext cx="5261439" cy="659011"/>
          </a:xfrm>
          <a:prstGeom prst="roundRect">
            <a:avLst>
              <a:gd name="adj" fmla="val 3227"/>
            </a:avLst>
          </a:prstGeom>
          <a:solidFill>
            <a:srgbClr val="5F34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56" y="3646984"/>
            <a:ext cx="177200" cy="1416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2037" y="3607991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Aim at one man: 42, 110 kg, works too much, two kids, tried three times and quit.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4255492"/>
            <a:ext cx="1379602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503" y="4297958"/>
            <a:ext cx="181913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SECONDARY AUDIENCE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1475" y="4513263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Their wives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4840982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Family content has a 1,913 median against 859 overall. Women share health content about their husbands.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5357416"/>
            <a:ext cx="984424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6503" y="5399881"/>
            <a:ext cx="14239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EXPLICITLY NOT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61475" y="5692279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men chasing aesthetics, competitive lifters, anyone who wants a fast transformation.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836" y="1757164"/>
            <a:ext cx="3946029" cy="3946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520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Voice and visual identity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65000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Four voice traits, all from his own transcripts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22277"/>
            <a:ext cx="2564443" cy="15870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928" y="2192536"/>
            <a:ext cx="2147735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Brotherly, not authoritative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7928" y="2785963"/>
            <a:ext cx="214773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person, "this is what I did"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6862" y="2022277"/>
            <a:ext cx="2564542" cy="15870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3316" y="2192536"/>
            <a:ext cx="2147834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Specific over inspirational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593316" y="2785963"/>
            <a:ext cx="2147834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 kg, 44, 6:45am, the 4th-day rule. No number, not finished.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30228"/>
            <a:ext cx="2564443" cy="1151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7928" y="3900488"/>
            <a:ext cx="2147735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Arabic first, English where it lands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07928" y="4493915"/>
            <a:ext cx="214773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code-switches naturally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6862" y="3730228"/>
            <a:ext cx="2564542" cy="11516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93316" y="3900488"/>
            <a:ext cx="214783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Never shames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3593316" y="4257675"/>
            <a:ext cx="214783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talks about his 125 kg self with compassion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286640" y="165000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Visual Identity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286640" y="2007195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Type: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Oswald + Archivo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(English) ·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Tajawal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(Arabic) ·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JetBrains Mono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(data). Reel covers are stills from the Reel, face visible. Never stock.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61475" y="5153918"/>
            <a:ext cx="2626453" cy="828873"/>
          </a:xfrm>
          <a:prstGeom prst="roundRect">
            <a:avLst>
              <a:gd name="adj" fmla="val 2737"/>
            </a:avLst>
          </a:prstGeom>
          <a:solidFill>
            <a:srgbClr val="100C09"/>
          </a:solidFill>
          <a:ln/>
        </p:spPr>
      </p:sp>
      <p:sp>
        <p:nvSpPr>
          <p:cNvPr id="19" name="Text 13"/>
          <p:cNvSpPr/>
          <p:nvPr/>
        </p:nvSpPr>
        <p:spPr>
          <a:xfrm>
            <a:off x="812680" y="5305127"/>
            <a:ext cx="23240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Forge Black #100C09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12680" y="5613896"/>
            <a:ext cx="23240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Backgrounds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408873" y="5153918"/>
            <a:ext cx="2626453" cy="828873"/>
          </a:xfrm>
          <a:prstGeom prst="roundRect">
            <a:avLst>
              <a:gd name="adj" fmla="val 2737"/>
            </a:avLst>
          </a:prstGeom>
          <a:solidFill>
            <a:srgbClr val="D4552A"/>
          </a:solidFill>
          <a:ln/>
        </p:spPr>
      </p:sp>
      <p:sp>
        <p:nvSpPr>
          <p:cNvPr id="22" name="Text 16"/>
          <p:cNvSpPr/>
          <p:nvPr/>
        </p:nvSpPr>
        <p:spPr>
          <a:xfrm>
            <a:off x="3560078" y="5305127"/>
            <a:ext cx="23240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Ember #D4552A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3560078" y="5613896"/>
            <a:ext cx="23240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Hooks, key numbers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156270" y="5153918"/>
            <a:ext cx="2626453" cy="828873"/>
          </a:xfrm>
          <a:prstGeom prst="roundRect">
            <a:avLst>
              <a:gd name="adj" fmla="val 2737"/>
            </a:avLst>
          </a:prstGeom>
          <a:solidFill>
            <a:srgbClr val="B8935A"/>
          </a:solidFill>
          <a:ln/>
        </p:spPr>
      </p:sp>
      <p:sp>
        <p:nvSpPr>
          <p:cNvPr id="25" name="Text 19"/>
          <p:cNvSpPr/>
          <p:nvPr/>
        </p:nvSpPr>
        <p:spPr>
          <a:xfrm>
            <a:off x="6307476" y="5305127"/>
            <a:ext cx="23240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Brass #B8935A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307476" y="5613896"/>
            <a:ext cx="23240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Credentials only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903668" y="5153918"/>
            <a:ext cx="2626552" cy="828873"/>
          </a:xfrm>
          <a:prstGeom prst="roundRect">
            <a:avLst>
              <a:gd name="adj" fmla="val 2737"/>
            </a:avLst>
          </a:prstGeom>
          <a:solidFill>
            <a:srgbClr val="5E6B72"/>
          </a:solidFill>
          <a:ln/>
        </p:spPr>
      </p:sp>
      <p:sp>
        <p:nvSpPr>
          <p:cNvPr id="28" name="Text 22"/>
          <p:cNvSpPr/>
          <p:nvPr/>
        </p:nvSpPr>
        <p:spPr>
          <a:xfrm>
            <a:off x="9054873" y="5305127"/>
            <a:ext cx="232414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Steel #5E6B72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054873" y="5613896"/>
            <a:ext cx="232414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Secondary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23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connected system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29395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workstream matters because of what it hands to the next.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777" y="1256506"/>
            <a:ext cx="6818142" cy="33327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2996" y="2403196"/>
            <a:ext cx="1589487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5094" y="1640224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Engage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99131" y="3208556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980078" y="3985658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Website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4694535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Week 1 channel build — before any automation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4979690"/>
            <a:ext cx="10868745" cy="1348978"/>
          </a:xfrm>
          <a:prstGeom prst="roundRect">
            <a:avLst>
              <a:gd name="adj" fmla="val 1281"/>
            </a:avLst>
          </a:prstGeom>
          <a:solidFill>
            <a:srgbClr val="404245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4979690"/>
            <a:ext cx="3622882" cy="748605"/>
          </a:xfrm>
          <a:custGeom>
            <a:avLst/>
            <a:gdLst/>
            <a:ahLst/>
            <a:cxnLst/>
            <a:rect l="l" t="t" r="r" b="b"/>
            <a:pathLst>
              <a:path w="3622882" h="748605">
                <a:moveTo>
                  <a:pt x="14398" y="0"/>
                </a:moveTo>
                <a:lnTo>
                  <a:pt x="3622882" y="0"/>
                </a:lnTo>
                <a:lnTo>
                  <a:pt x="3622882" y="748605"/>
                </a:lnTo>
                <a:lnTo>
                  <a:pt x="0" y="748605"/>
                </a:lnTo>
                <a:lnTo>
                  <a:pt x="0" y="14398"/>
                </a:lnTo>
                <a:arcTo hR="14398" wR="14398" stAng="10800000" swAng="5400000"/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12" name="Text 9"/>
          <p:cNvSpPr/>
          <p:nvPr/>
        </p:nvSpPr>
        <p:spPr>
          <a:xfrm>
            <a:off x="776566" y="5094784"/>
            <a:ext cx="33927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WhatsApp Business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6566" y="5316736"/>
            <a:ext cx="33927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 API with Meta-approved templates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84357" y="4979690"/>
            <a:ext cx="3622882" cy="748605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4357" y="4979690"/>
            <a:ext cx="12700" cy="748605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6" name="Text 13"/>
          <p:cNvSpPr/>
          <p:nvPr/>
        </p:nvSpPr>
        <p:spPr>
          <a:xfrm>
            <a:off x="4399448" y="5094784"/>
            <a:ext cx="33927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99448" y="5316736"/>
            <a:ext cx="339270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Professional account linked to Meta Business Suite, Arabic name field, new bio, website link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907239" y="4979690"/>
            <a:ext cx="3622882" cy="748605"/>
          </a:xfrm>
          <a:custGeom>
            <a:avLst/>
            <a:gdLst/>
            <a:ahLst/>
            <a:cxnLst/>
            <a:rect l="l" t="t" r="r" b="b"/>
            <a:pathLst>
              <a:path w="3622882" h="748605">
                <a:moveTo>
                  <a:pt x="0" y="0"/>
                </a:moveTo>
                <a:lnTo>
                  <a:pt x="3608484" y="0"/>
                </a:lnTo>
                <a:arcTo hR="14398" wR="14398" stAng="16200000" swAng="5400000"/>
                <a:lnTo>
                  <a:pt x="3622882" y="748605"/>
                </a:lnTo>
                <a:lnTo>
                  <a:pt x="0" y="748605"/>
                </a:lnTo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19" name="Shape 16"/>
          <p:cNvSpPr/>
          <p:nvPr/>
        </p:nvSpPr>
        <p:spPr>
          <a:xfrm>
            <a:off x="7907239" y="4979690"/>
            <a:ext cx="12700" cy="748605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0" name="Text 17"/>
          <p:cNvSpPr/>
          <p:nvPr/>
        </p:nvSpPr>
        <p:spPr>
          <a:xfrm>
            <a:off x="8022330" y="5094784"/>
            <a:ext cx="33927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Facebook Page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22330" y="5316736"/>
            <a:ext cx="33927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cross-posting enabled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61475" y="5728295"/>
            <a:ext cx="5434273" cy="600373"/>
          </a:xfrm>
          <a:custGeom>
            <a:avLst/>
            <a:gdLst/>
            <a:ahLst/>
            <a:cxnLst/>
            <a:rect l="l" t="t" r="r" b="b"/>
            <a:pathLst>
              <a:path w="5434273" h="600373">
                <a:moveTo>
                  <a:pt x="0" y="0"/>
                </a:moveTo>
                <a:lnTo>
                  <a:pt x="5434273" y="0"/>
                </a:lnTo>
                <a:lnTo>
                  <a:pt x="5434273" y="600373"/>
                </a:lnTo>
                <a:lnTo>
                  <a:pt x="14398" y="600373"/>
                </a:lnTo>
                <a:arcTo hR="14398" wR="14398" stAng="5400000" swAng="5400000"/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23" name="Shape 20"/>
          <p:cNvSpPr/>
          <p:nvPr/>
        </p:nvSpPr>
        <p:spPr>
          <a:xfrm>
            <a:off x="661475" y="5728295"/>
            <a:ext cx="5434273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4" name="Text 21"/>
          <p:cNvSpPr/>
          <p:nvPr/>
        </p:nvSpPr>
        <p:spPr>
          <a:xfrm>
            <a:off x="776566" y="5843389"/>
            <a:ext cx="520409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6566" y="6065341"/>
            <a:ext cx="520409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Private bot for Waleed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95748" y="5728295"/>
            <a:ext cx="5434373" cy="600373"/>
          </a:xfrm>
          <a:custGeom>
            <a:avLst/>
            <a:gdLst/>
            <a:ahLst/>
            <a:cxnLst/>
            <a:rect l="l" t="t" r="r" b="b"/>
            <a:pathLst>
              <a:path w="5434373" h="600373">
                <a:moveTo>
                  <a:pt x="0" y="0"/>
                </a:moveTo>
                <a:lnTo>
                  <a:pt x="5434373" y="0"/>
                </a:lnTo>
                <a:lnTo>
                  <a:pt x="5434373" y="585974"/>
                </a:lnTo>
                <a:arcTo hR="14398" wR="14398" stAng="0" swAng="5400000"/>
                <a:lnTo>
                  <a:pt x="0" y="600373"/>
                </a:lnTo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27" name="Shape 24"/>
          <p:cNvSpPr/>
          <p:nvPr/>
        </p:nvSpPr>
        <p:spPr>
          <a:xfrm>
            <a:off x="6095748" y="5728295"/>
            <a:ext cx="12700" cy="600373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8" name="Shape 25"/>
          <p:cNvSpPr/>
          <p:nvPr/>
        </p:nvSpPr>
        <p:spPr>
          <a:xfrm>
            <a:off x="6095748" y="5728295"/>
            <a:ext cx="5434373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9" name="Text 26"/>
          <p:cNvSpPr/>
          <p:nvPr/>
        </p:nvSpPr>
        <p:spPr>
          <a:xfrm>
            <a:off x="6210839" y="5843389"/>
            <a:ext cx="52041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Domain &amp; Tech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10839" y="6065341"/>
            <a:ext cx="52041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SSL, analytics and Meta Pixel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2026-09-21T09:30:47Z</dcterms:created>
  <dcterms:modified xsi:type="dcterms:W3CDTF">2026-09-21T09:30:47Z</dcterms:modified>
</cp:coreProperties>
</file>