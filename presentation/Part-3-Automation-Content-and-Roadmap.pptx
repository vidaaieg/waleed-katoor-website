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embeddedFontLst>
    <p:embeddedFont>
      <p:font typeface="Manrope"/>
      <p:regular r:id="rId201314"/>
    </p:embeddedFont>
    <p:embeddedFont>
      <p:font typeface="Manrope Bold"/>
      <p:regular r:id="rId201315"/>
    </p:embeddedFont>
    <p:embeddedFont>
      <p:font typeface="Prata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1.png"/><Relationship Id="rId4" Type="http://schemas.openxmlformats.org/officeDocument/2006/relationships/image" Target="../media/image-4-2.svg"/><Relationship Id="rId5" Type="http://schemas.openxmlformats.org/officeDocument/2006/relationships/image" Target="../media/image-4-1.png"/><Relationship Id="rId6" Type="http://schemas.openxmlformats.org/officeDocument/2006/relationships/image" Target="../media/image-4-2.svg"/><Relationship Id="rId7" Type="http://schemas.openxmlformats.org/officeDocument/2006/relationships/image" Target="../media/image-4-1.png"/><Relationship Id="rId8" Type="http://schemas.openxmlformats.org/officeDocument/2006/relationships/image" Target="../media/image-4-2.svg"/><Relationship Id="rId9" Type="http://schemas.openxmlformats.org/officeDocument/2006/relationships/image" Target="../media/image-4-1.png"/><Relationship Id="rId10" Type="http://schemas.openxmlformats.org/officeDocument/2006/relationships/image" Target="../media/image-4-2.svg"/><Relationship Id="rId11" Type="http://schemas.openxmlformats.org/officeDocument/2006/relationships/image" Target="../media/image-4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1.png"/><Relationship Id="rId4" Type="http://schemas.openxmlformats.org/officeDocument/2006/relationships/image" Target="../media/image-5-2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5.png"/><Relationship Id="rId8" Type="http://schemas.openxmlformats.org/officeDocument/2006/relationships/image" Target="../media/image-5-6.sv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image" Target="../media/image-6-8.png"/><Relationship Id="rId9" Type="http://schemas.openxmlformats.org/officeDocument/2006/relationships/image" Target="../media/image-6-9.svg"/><Relationship Id="rId10" Type="http://schemas.openxmlformats.org/officeDocument/2006/relationships/image" Target="../media/image-6-10.png"/><Relationship Id="rId11" Type="http://schemas.openxmlformats.org/officeDocument/2006/relationships/image" Target="../media/image-6-11.sv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2.png"/><Relationship Id="rId5" Type="http://schemas.openxmlformats.org/officeDocument/2006/relationships/image" Target="../media/image-8-3.svg"/><Relationship Id="rId6" Type="http://schemas.openxmlformats.org/officeDocument/2006/relationships/image" Target="../media/image-8-2.png"/><Relationship Id="rId7" Type="http://schemas.openxmlformats.org/officeDocument/2006/relationships/image" Target="../media/image-8-3.svg"/><Relationship Id="rId8" Type="http://schemas.openxmlformats.org/officeDocument/2006/relationships/image" Target="../media/image-8-8.png"/><Relationship Id="rId9" Type="http://schemas.openxmlformats.org/officeDocument/2006/relationships/image" Target="../media/image-8-9.svg"/><Relationship Id="rId10" Type="http://schemas.openxmlformats.org/officeDocument/2006/relationships/image" Target="../media/image-8-8.png"/><Relationship Id="rId11" Type="http://schemas.openxmlformats.org/officeDocument/2006/relationships/image" Target="../media/image-8-9.svg"/><Relationship Id="rId12" Type="http://schemas.openxmlformats.org/officeDocument/2006/relationships/image" Target="../media/image-8-8.png"/><Relationship Id="rId13" Type="http://schemas.openxmlformats.org/officeDocument/2006/relationships/image" Target="../media/image-8-9.svg"/><Relationship Id="rId14" Type="http://schemas.openxmlformats.org/officeDocument/2006/relationships/image" Target="../media/image-3-2.png"/><Relationship Id="rId15" Type="http://schemas.openxmlformats.org/officeDocument/2006/relationships/slideLayout" Target="../slideLayouts/slideLayout2.xml"/><Relationship Id="rId1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588863"/>
            <a:ext cx="4993952" cy="312122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3832126"/>
            <a:ext cx="10868745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AI Automation: Nine Client Automations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661475" y="4341813"/>
            <a:ext cx="1147833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complete system for Waleed — Arabic-first, human in the loop for health and money, clean handover, within Meta's platform rules, and everything logged.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661475" y="4597698"/>
            <a:ext cx="681715" cy="188516"/>
          </a:xfrm>
          <a:prstGeom prst="roundRect">
            <a:avLst>
              <a:gd name="adj" fmla="val 7896"/>
            </a:avLst>
          </a:prstGeom>
          <a:solidFill>
            <a:srgbClr val="391F13"/>
          </a:solidFill>
          <a:ln/>
        </p:spPr>
      </p:sp>
      <p:sp>
        <p:nvSpPr>
          <p:cNvPr id="6" name="Text 3"/>
          <p:cNvSpPr/>
          <p:nvPr/>
        </p:nvSpPr>
        <p:spPr>
          <a:xfrm>
            <a:off x="735887" y="4634905"/>
            <a:ext cx="1142475" cy="114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PRINCIPLES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661475" y="4877792"/>
            <a:ext cx="5393694" cy="654943"/>
          </a:xfrm>
          <a:prstGeom prst="roundRect">
            <a:avLst>
              <a:gd name="adj" fmla="val 2841"/>
            </a:avLst>
          </a:prstGeom>
          <a:solidFill>
            <a:srgbClr val="404245"/>
          </a:solidFill>
          <a:ln/>
        </p:spPr>
      </p:sp>
      <p:sp>
        <p:nvSpPr>
          <p:cNvPr id="8" name="Text 5"/>
          <p:cNvSpPr/>
          <p:nvPr/>
        </p:nvSpPr>
        <p:spPr>
          <a:xfrm>
            <a:off x="785495" y="5001816"/>
            <a:ext cx="5145653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Arabic-First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85495" y="5244405"/>
            <a:ext cx="514565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Every message, every touchpoint in the client's language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136526" y="4877792"/>
            <a:ext cx="5393694" cy="654943"/>
          </a:xfrm>
          <a:prstGeom prst="roundRect">
            <a:avLst>
              <a:gd name="adj" fmla="val 2841"/>
            </a:avLst>
          </a:prstGeom>
          <a:solidFill>
            <a:srgbClr val="404245"/>
          </a:solidFill>
          <a:ln/>
        </p:spPr>
      </p:sp>
      <p:sp>
        <p:nvSpPr>
          <p:cNvPr id="11" name="Text 8"/>
          <p:cNvSpPr/>
          <p:nvPr/>
        </p:nvSpPr>
        <p:spPr>
          <a:xfrm>
            <a:off x="6260547" y="5001816"/>
            <a:ext cx="5145653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Human in the Loop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260547" y="5244405"/>
            <a:ext cx="514565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Health and money decisions always go through Waleed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61475" y="5614095"/>
            <a:ext cx="5393694" cy="654943"/>
          </a:xfrm>
          <a:prstGeom prst="roundRect">
            <a:avLst>
              <a:gd name="adj" fmla="val 2841"/>
            </a:avLst>
          </a:prstGeom>
          <a:solidFill>
            <a:srgbClr val="404245"/>
          </a:solidFill>
          <a:ln/>
        </p:spPr>
      </p:sp>
      <p:sp>
        <p:nvSpPr>
          <p:cNvPr id="14" name="Text 11"/>
          <p:cNvSpPr/>
          <p:nvPr/>
        </p:nvSpPr>
        <p:spPr>
          <a:xfrm>
            <a:off x="785495" y="5738118"/>
            <a:ext cx="5145653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Clean Handover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85495" y="5980708"/>
            <a:ext cx="514565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Every action logged and handed off clearly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136526" y="5614095"/>
            <a:ext cx="5393694" cy="654943"/>
          </a:xfrm>
          <a:prstGeom prst="roundRect">
            <a:avLst>
              <a:gd name="adj" fmla="val 2841"/>
            </a:avLst>
          </a:prstGeom>
          <a:solidFill>
            <a:srgbClr val="404245"/>
          </a:solidFill>
          <a:ln/>
        </p:spPr>
      </p:sp>
      <p:sp>
        <p:nvSpPr>
          <p:cNvPr id="17" name="Text 14"/>
          <p:cNvSpPr/>
          <p:nvPr/>
        </p:nvSpPr>
        <p:spPr>
          <a:xfrm>
            <a:off x="6260547" y="5738118"/>
            <a:ext cx="5145653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Platform Rules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260547" y="5980708"/>
            <a:ext cx="514565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Within Meta's guidelines at every step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5454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The Nine Automations</a:t>
            </a:r>
            <a:endParaRPr lang="en-US" sz="29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329829"/>
          <a:ext cx="9143771" cy="914400"/>
        </p:xfrm>
        <a:graphic>
          <a:graphicData uri="http://schemas.openxmlformats.org/drawingml/2006/table">
            <a:tbl>
              <a:tblPr/>
              <a:tblGrid>
                <a:gridCol w="3622915"/>
                <a:gridCol w="3622915"/>
                <a:gridCol w="3622915"/>
              </a:tblGrid>
              <a:tr h="3786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#</a:t>
                      </a:r>
                      <a:endParaRPr lang="en-US" sz="11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48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48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Automation</a:t>
                      </a:r>
                      <a:endParaRPr lang="en-US" sz="11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8448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48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48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What Happens</a:t>
                      </a:r>
                      <a:endParaRPr lang="en-US" sz="11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8448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482D"/>
                    </a:solidFill>
                  </a:tcPr>
                </a:tc>
              </a:tr>
              <a:tr h="381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</a:t>
                      </a:r>
                      <a:endParaRPr lang="en-US" sz="11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Meal PDF Delivery</a:t>
                      </a:r>
                      <a:endParaRPr lang="en-US" sz="11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Approved PDF sent to the client on WhatsApp</a:t>
                      </a:r>
                      <a:endParaRPr lang="en-US" sz="11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</a:tr>
              <a:tr h="5994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</a:t>
                      </a:r>
                      <a:endParaRPr lang="en-US" sz="11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InBody Tracking</a:t>
                      </a:r>
                      <a:endParaRPr lang="en-US" sz="11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AI reads the photo, saves weight, muscle, body fat, updates the graph</a:t>
                      </a:r>
                      <a:endParaRPr lang="en-US" sz="11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</a:tr>
              <a:tr h="381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3</a:t>
                      </a:r>
                      <a:endParaRPr lang="en-US" sz="11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Monthly Report</a:t>
                      </a:r>
                      <a:endParaRPr lang="en-US" sz="11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 report per client sent to Waleed on the 1st</a:t>
                      </a:r>
                      <a:endParaRPr lang="en-US" sz="11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</a:tr>
              <a:tr h="381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4</a:t>
                      </a:r>
                      <a:endParaRPr lang="en-US" sz="11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Weekly Reminder</a:t>
                      </a:r>
                      <a:endParaRPr lang="en-US" sz="11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«لا تنسى التشيك-إن تبعك اليوم»</a:t>
                      </a:r>
                      <a:endParaRPr lang="en-US" sz="11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</a:tr>
              <a:tr h="5994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5</a:t>
                      </a:r>
                      <a:endParaRPr lang="en-US" sz="11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Weekly Form Link</a:t>
                      </a:r>
                      <a:endParaRPr lang="en-US" sz="11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The check-in link each week, answers land in the profile</a:t>
                      </a:r>
                      <a:endParaRPr lang="en-US" sz="11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</a:tr>
              <a:tr h="5994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6</a:t>
                      </a:r>
                      <a:endParaRPr lang="en-US" sz="11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AI Plan Builder</a:t>
                      </a:r>
                      <a:endParaRPr lang="en-US" sz="11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Drafts meal and plan ideas; </a:t>
                      </a:r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Waleed approves every one</a:t>
                      </a:r>
                      <a:endParaRPr lang="en-US" sz="11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</a:tr>
              <a:tr h="5994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7</a:t>
                      </a:r>
                      <a:endParaRPr lang="en-US" sz="11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Renewals</a:t>
                      </a:r>
                      <a:endParaRPr lang="en-US" sz="11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Renew or upgrade message 7 days before, one follow-up</a:t>
                      </a:r>
                      <a:endParaRPr lang="en-US" sz="11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</a:tr>
              <a:tr h="5994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8</a:t>
                      </a:r>
                      <a:endParaRPr lang="en-US" sz="11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Waleed's Assistant</a:t>
                      </a:r>
                      <a:endParaRPr lang="en-US" sz="11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Voice notes to the right client's CRM record; answers questions</a:t>
                      </a:r>
                      <a:endParaRPr lang="en-US" sz="11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</a:tr>
              <a:tr h="3786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9</a:t>
                      </a:r>
                      <a:endParaRPr lang="en-US" sz="11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Weekly Progress Photo</a:t>
                      </a:r>
                      <a:endParaRPr lang="en-US" sz="11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Added to the before/now timeline</a:t>
                      </a:r>
                      <a:endParaRPr lang="en-US" sz="11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67544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The Leads Engine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9454" y="2444849"/>
            <a:ext cx="4523766" cy="24720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475981" y="3603144"/>
            <a:ext cx="1048196" cy="142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Post + CTA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5122854" y="3587061"/>
            <a:ext cx="1048196" cy="142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Auto DM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829841" y="3592211"/>
            <a:ext cx="1048195" cy="142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Click = Lead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7927181" y="1251049"/>
            <a:ext cx="360928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927181" y="1522809"/>
            <a:ext cx="3609289" cy="1408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10000"/>
              </a:lnSpc>
              <a:buSzPct val="100000"/>
              <a:buFont typeface="+mj-lt"/>
              <a:buAutoNum type="arabicPeriod" startAt="1"/>
            </a:pPr>
            <a:r>
              <a:rPr lang="ar-SA" altLang="en-US" sz="95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Post + CTA:</a:t>
            </a:r>
            <a:pPr algn="l" marL="193040" indent="-193040">
              <a:lnSpc>
                <a:spcPct val="110000"/>
              </a:lnSpc>
              <a:buSzPct val="100000"/>
              <a:buFont typeface="+mj-lt"/>
              <a:buAutoNum type="arabicPeriod" startAt="1"/>
            </a:pPr>
            <a:r>
              <a:rPr lang="ar-SA" altLang="en-US" sz="950" dirty="0">
                <a:solidFill>
                  <a:srgbClr val="BDA1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e.g. اكتب «بروتوكول» بالكومنت وببعتلك القاعدة كاملة</a:t>
            </a:r>
            <a:endParaRPr lang="ar-SA" sz="950" dirty="0"/>
          </a:p>
          <a:p>
            <a:pPr algn="l" marL="193040" indent="-193040">
              <a:lnSpc>
                <a:spcPct val="110000"/>
              </a:lnSpc>
              <a:buSzPct val="100000"/>
              <a:buFont typeface="+mj-lt"/>
              <a:buAutoNum type="arabicPeriod" startAt="2"/>
            </a:pPr>
            <a:r>
              <a:rPr lang="ar-SA" altLang="en-US" sz="95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Auto DM:</a:t>
            </a:r>
            <a:pPr algn="l" marL="193040" indent="-193040">
              <a:lnSpc>
                <a:spcPct val="110000"/>
              </a:lnSpc>
              <a:buSzPct val="100000"/>
              <a:buFont typeface="+mj-lt"/>
              <a:buAutoNum type="arabicPeriod" startAt="2"/>
            </a:pPr>
            <a:r>
              <a:rPr lang="ar-SA" alt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the promised resource + a website link unique to that person</a:t>
            </a:r>
            <a:endParaRPr lang="ar-SA" sz="950" dirty="0"/>
          </a:p>
          <a:p>
            <a:pPr algn="l" marL="193040" indent="-193040">
              <a:lnSpc>
                <a:spcPct val="110000"/>
              </a:lnSpc>
              <a:buSzPct val="100000"/>
              <a:buFont typeface="+mj-lt"/>
              <a:buAutoNum type="arabicPeriod" startAt="3"/>
            </a:pPr>
            <a:r>
              <a:rPr lang="ar-SA" altLang="en-US" sz="95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Click = lead:</a:t>
            </a:r>
            <a:pPr algn="l" marL="193040" indent="-193040">
              <a:lnSpc>
                <a:spcPct val="110000"/>
              </a:lnSpc>
              <a:buSzPct val="100000"/>
              <a:buFont typeface="+mj-lt"/>
              <a:buAutoNum type="arabicPeriod" startAt="3"/>
            </a:pPr>
            <a:r>
              <a:rPr lang="ar-SA" alt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the CRM registers his handle, the source post and the date</a:t>
            </a:r>
            <a:endParaRPr lang="ar-SA" sz="950" dirty="0"/>
          </a:p>
          <a:p>
            <a:pPr algn="l" marL="193040" indent="-193040">
              <a:lnSpc>
                <a:spcPct val="110000"/>
              </a:lnSpc>
              <a:buSzPct val="100000"/>
              <a:buFont typeface="+mj-lt"/>
              <a:buAutoNum type="arabicPeriod" startAt="4"/>
            </a:pPr>
            <a:r>
              <a:rPr lang="ar-SA" altLang="en-US" sz="95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Assistant:</a:t>
            </a:r>
            <a:pPr algn="l" marL="193040" indent="-193040">
              <a:lnSpc>
                <a:spcPct val="110000"/>
              </a:lnSpc>
              <a:buSzPct val="100000"/>
              <a:buFont typeface="+mj-lt"/>
              <a:buAutoNum type="arabicPeriod" startAt="4"/>
            </a:pPr>
            <a:r>
              <a:rPr lang="ar-SA" alt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answers repeat questions, qualifies, offers the calendar</a:t>
            </a:r>
            <a:endParaRPr lang="ar-SA" sz="950" dirty="0"/>
          </a:p>
          <a:p>
            <a:pPr algn="l" marL="193040" indent="-193040">
              <a:lnSpc>
                <a:spcPct val="110000"/>
              </a:lnSpc>
              <a:buSzPct val="100000"/>
              <a:buFont typeface="+mj-lt"/>
              <a:buAutoNum type="arabicPeriod" startAt="5"/>
            </a:pPr>
            <a:r>
              <a:rPr lang="ar-SA" altLang="en-US" sz="95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Booked or follow-up:</a:t>
            </a:r>
            <a:pPr algn="l" marL="193040" indent="-193040">
              <a:lnSpc>
                <a:spcPct val="110000"/>
              </a:lnSpc>
              <a:buSzPct val="100000"/>
              <a:buFont typeface="+mj-lt"/>
              <a:buAutoNum type="arabicPeriod" startAt="5"/>
            </a:pPr>
            <a:r>
              <a:rPr lang="ar-SA" alt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call booked, or queued for a human</a:t>
            </a:r>
            <a:endParaRPr lang="ar-SA" sz="950" dirty="0"/>
          </a:p>
        </p:txBody>
      </p:sp>
      <p:sp>
        <p:nvSpPr>
          <p:cNvPr id="9" name="Text 6"/>
          <p:cNvSpPr/>
          <p:nvPr/>
        </p:nvSpPr>
        <p:spPr>
          <a:xfrm>
            <a:off x="7927181" y="3003153"/>
            <a:ext cx="3609289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Because every link is unique, we know 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which post produced which client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not only views.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7927181" y="3417193"/>
            <a:ext cx="3609289" cy="1177727"/>
          </a:xfrm>
          <a:prstGeom prst="roundRect">
            <a:avLst>
              <a:gd name="adj" fmla="val 1565"/>
            </a:avLst>
          </a:prstGeom>
          <a:solidFill>
            <a:srgbClr val="5F342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0011" y="3547070"/>
            <a:ext cx="153488" cy="12283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326328" y="3519686"/>
            <a:ext cx="3087313" cy="972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Follow-up within the rules: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Meta limits business messages to a window after the person's last message, and WhatsApp needs opt-in. So follow-up moves to WhatsApp with consent, happens personally from the "Not now" list, or comes back through new content. No mass cold DMs.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7927181" y="4684713"/>
            <a:ext cx="360928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Stack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7927181" y="4956473"/>
            <a:ext cx="3609289" cy="486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n8n (self-hosted) · WhatsApp Cloud API · Meta Graph API · an Arabic-strong LLM · vision for InBody · Whisper-class transcription · Cal.com · Telegram Bot API · branded PDFs.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7927181" y="5522615"/>
            <a:ext cx="360928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Rollout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927181" y="5794375"/>
            <a:ext cx="3609289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Month 1 catch every lead · Month 2 run the clients · Month 3 the intelligence layer.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3902"/>
            <a:ext cx="10868745" cy="329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Social Media: The Weekly Rhythm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661475" y="1031677"/>
            <a:ext cx="10868745" cy="5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Every post at 20:00 KSA, on Instagram and Facebook</a:t>
            </a:r>
            <a:endParaRPr lang="en-US" sz="800" dirty="0"/>
          </a:p>
          <a:p>
            <a:pPr algn="l" indent="0" marL="0">
              <a:lnSpc>
                <a:spcPct val="104000"/>
              </a:lnSpc>
              <a:spcAft>
                <a:spcPts val="500"/>
              </a:spcAft>
              <a:buNone/>
            </a:pPr>
            <a:r>
              <a:rPr lang="en-US" sz="8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Friday Reel (anchor) · Saturday carousel · Sunday Reel (test slot) · Tuesday Reel · Wednesday Reel · Monday and Thursday Stories only (+ Q&amp;A box on Thursday)</a:t>
            </a:r>
            <a:endParaRPr lang="en-US" sz="8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4 Reels + 1 carousel a week · about 16 + 4 a month · 2+ raw Stories a day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475" y="1647329"/>
            <a:ext cx="10868745" cy="263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Five Content Pillars</a:t>
            </a:r>
            <a:endParaRPr lang="en-US" sz="16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999655"/>
            <a:ext cx="10868745" cy="73521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6132" y="2268240"/>
            <a:ext cx="158349" cy="1979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55373" y="2117923"/>
            <a:ext cx="10256581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ar-SA" altLang="en-US" sz="1000" dirty="0">
                <a:solidFill>
                  <a:srgbClr val="BDA1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Road · الطريق</a:t>
            </a:r>
            <a:endParaRPr lang="ar-SA" sz="1000" dirty="0"/>
          </a:p>
        </p:txBody>
      </p:sp>
      <p:sp>
        <p:nvSpPr>
          <p:cNvPr id="8" name="Text 5"/>
          <p:cNvSpPr/>
          <p:nvPr/>
        </p:nvSpPr>
        <p:spPr>
          <a:xfrm>
            <a:off x="1155373" y="2318147"/>
            <a:ext cx="10256581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spcAft>
                <a:spcPts val="250"/>
              </a:spcAft>
              <a:buNone/>
            </a:pPr>
            <a:r>
              <a:rPr lang="en-US" sz="8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125 kg story in unglamorous specifics</a:t>
            </a:r>
            <a:endParaRPr lang="en-US" sz="8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3/month</a:t>
            </a:r>
            <a:endParaRPr lang="en-US" sz="8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793802"/>
            <a:ext cx="10868745" cy="73521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06132" y="3062387"/>
            <a:ext cx="158349" cy="1979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155373" y="2912070"/>
            <a:ext cx="10256581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ar-SA" altLang="en-US" sz="1000" dirty="0">
                <a:solidFill>
                  <a:srgbClr val="BDA1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Busy Man's Protocol · بروتوكول المشغول</a:t>
            </a:r>
            <a:endParaRPr lang="ar-SA" sz="1000" dirty="0"/>
          </a:p>
        </p:txBody>
      </p:sp>
      <p:sp>
        <p:nvSpPr>
          <p:cNvPr id="12" name="Text 8"/>
          <p:cNvSpPr/>
          <p:nvPr/>
        </p:nvSpPr>
        <p:spPr>
          <a:xfrm>
            <a:off x="1155373" y="3112294"/>
            <a:ext cx="10256581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spcAft>
                <a:spcPts val="250"/>
              </a:spcAft>
              <a:buNone/>
            </a:pPr>
            <a:r>
              <a:rPr lang="en-US" sz="8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actual system, 60–90s teaching</a:t>
            </a:r>
            <a:endParaRPr lang="en-US" sz="8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5/month</a:t>
            </a:r>
            <a:endParaRPr lang="en-US" sz="8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587948"/>
            <a:ext cx="10868745" cy="73521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06132" y="3856534"/>
            <a:ext cx="158349" cy="1979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1155373" y="3706217"/>
            <a:ext cx="10256581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ar-SA" altLang="en-US" sz="1000" dirty="0">
                <a:solidFill>
                  <a:srgbClr val="BDA1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Myths · خرافات</a:t>
            </a:r>
            <a:endParaRPr lang="ar-SA" sz="1000" dirty="0"/>
          </a:p>
        </p:txBody>
      </p:sp>
      <p:sp>
        <p:nvSpPr>
          <p:cNvPr id="16" name="Text 11"/>
          <p:cNvSpPr/>
          <p:nvPr/>
        </p:nvSpPr>
        <p:spPr>
          <a:xfrm>
            <a:off x="1155373" y="3906441"/>
            <a:ext cx="10256581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spcAft>
                <a:spcPts val="250"/>
              </a:spcAft>
              <a:buNone/>
            </a:pPr>
            <a:r>
              <a:rPr lang="en-US" sz="8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Myths taken apart, told as his stories</a:t>
            </a:r>
            <a:endParaRPr lang="en-US" sz="8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3/month</a:t>
            </a:r>
            <a:endParaRPr lang="en-US" sz="8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4382095"/>
            <a:ext cx="10868745" cy="73521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06132" y="4650680"/>
            <a:ext cx="158349" cy="1979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1155373" y="4500364"/>
            <a:ext cx="10256581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ar-SA" altLang="en-US" sz="1000" dirty="0">
                <a:solidFill>
                  <a:srgbClr val="BDA1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Why?! · ليش؟!</a:t>
            </a:r>
            <a:endParaRPr lang="ar-SA" sz="1000" dirty="0"/>
          </a:p>
        </p:txBody>
      </p:sp>
      <p:sp>
        <p:nvSpPr>
          <p:cNvPr id="20" name="Text 14"/>
          <p:cNvSpPr/>
          <p:nvPr/>
        </p:nvSpPr>
        <p:spPr>
          <a:xfrm>
            <a:off x="1155373" y="4700588"/>
            <a:ext cx="10256581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spcAft>
                <a:spcPts val="250"/>
              </a:spcAft>
              <a:buNone/>
            </a:pPr>
            <a:r>
              <a:rPr lang="en-US" sz="8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Family as the reason, the pillar wives share</a:t>
            </a:r>
            <a:endParaRPr lang="en-US" sz="8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3/month</a:t>
            </a:r>
            <a:endParaRPr lang="en-US" sz="8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5176242"/>
            <a:ext cx="10868745" cy="735211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06132" y="5444827"/>
            <a:ext cx="158349" cy="1979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1155373" y="5294511"/>
            <a:ext cx="10256581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ar-SA" altLang="en-US" sz="1000" dirty="0">
                <a:solidFill>
                  <a:srgbClr val="BDA1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Difference · الفرق</a:t>
            </a:r>
            <a:endParaRPr lang="ar-SA" sz="1000" dirty="0"/>
          </a:p>
        </p:txBody>
      </p:sp>
      <p:sp>
        <p:nvSpPr>
          <p:cNvPr id="24" name="Text 17"/>
          <p:cNvSpPr/>
          <p:nvPr/>
        </p:nvSpPr>
        <p:spPr>
          <a:xfrm>
            <a:off x="1155373" y="5494734"/>
            <a:ext cx="10256581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spcAft>
                <a:spcPts val="250"/>
              </a:spcAft>
              <a:buNone/>
            </a:pPr>
            <a:r>
              <a:rPr lang="en-US" sz="8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Vlogs, events, work, SQUATWOLF</a:t>
            </a:r>
            <a:endParaRPr lang="en-US" sz="8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2/month</a:t>
            </a:r>
            <a:endParaRPr lang="en-US" sz="800" dirty="0"/>
          </a:p>
        </p:txBody>
      </p:sp>
      <p:sp>
        <p:nvSpPr>
          <p:cNvPr id="25" name="Shape 18"/>
          <p:cNvSpPr/>
          <p:nvPr/>
        </p:nvSpPr>
        <p:spPr>
          <a:xfrm>
            <a:off x="661475" y="5977731"/>
            <a:ext cx="10868745" cy="296366"/>
          </a:xfrm>
          <a:prstGeom prst="roundRect">
            <a:avLst>
              <a:gd name="adj" fmla="val 5344"/>
            </a:avLst>
          </a:prstGeom>
          <a:solidFill>
            <a:srgbClr val="5F3420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7041" y="6063059"/>
            <a:ext cx="131958" cy="105569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004565" y="6063059"/>
            <a:ext cx="11029674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Gym footage is not a pillar. It is background texture.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65559"/>
            <a:ext cx="10868745" cy="494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The Content Engine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61475" y="1490464"/>
            <a:ext cx="5241496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25 Reel Ideas from the Strategy Notes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661475" y="1869877"/>
            <a:ext cx="5241496" cy="697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ar-SA" altLang="en-US" sz="1200" dirty="0">
                <a:solidFill>
                  <a:srgbClr val="BDA1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الصورة اللي خلتني أبلش (the photo that made me start) · قاعدة اليوم الرابع (the 4th-day rule) · the cheat meal · لما بنتي طلبت تلعب معي وما قدرت · لما يصير عمري 65 بدي كون متل عمرو دياب · يوم بحياتي.</a:t>
            </a:r>
            <a:endParaRPr lang="ar-SA" sz="1200" dirty="0"/>
          </a:p>
        </p:txBody>
      </p:sp>
      <p:sp>
        <p:nvSpPr>
          <p:cNvPr id="5" name="Text 3"/>
          <p:cNvSpPr/>
          <p:nvPr/>
        </p:nvSpPr>
        <p:spPr>
          <a:xfrm>
            <a:off x="661475" y="2699246"/>
            <a:ext cx="5241496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Stories — Daily and Raw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61475" y="3078659"/>
            <a:ext cx="5241496" cy="1904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43840" indent="-243840">
              <a:lnSpc>
                <a:spcPct val="122000"/>
              </a:lnSpc>
              <a:buSzPct val="100000"/>
              <a:buChar char="•"/>
            </a:pPr>
            <a:r>
              <a:rPr lang="en-US" sz="12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Food and weight</a:t>
            </a:r>
            <a:endParaRPr lang="en-US" sz="1200" dirty="0"/>
          </a:p>
          <a:p>
            <a:pPr algn="l" marL="243840" indent="-243840">
              <a:lnSpc>
                <a:spcPct val="122000"/>
              </a:lnSpc>
              <a:buSzPct val="100000"/>
              <a:buChar char="•"/>
            </a:pPr>
            <a:r>
              <a:rPr lang="en-US" sz="12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6:45am gym</a:t>
            </a:r>
            <a:endParaRPr lang="en-US" sz="1200" dirty="0"/>
          </a:p>
          <a:p>
            <a:pPr algn="l" marL="243840" indent="-243840">
              <a:lnSpc>
                <a:spcPct val="122000"/>
              </a:lnSpc>
              <a:buSzPct val="100000"/>
              <a:buChar char="•"/>
            </a:pPr>
            <a:r>
              <a:rPr lang="en-US" sz="12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Old Reel with a new comment</a:t>
            </a:r>
            <a:endParaRPr lang="en-US" sz="1200" dirty="0"/>
          </a:p>
          <a:p>
            <a:pPr algn="l" marL="243840" indent="-243840">
              <a:lnSpc>
                <a:spcPct val="122000"/>
              </a:lnSpc>
              <a:buSzPct val="100000"/>
              <a:buChar char="•"/>
            </a:pPr>
            <a:r>
              <a:rPr lang="en-US" sz="12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Events and runs</a:t>
            </a:r>
            <a:endParaRPr lang="en-US" sz="1200" dirty="0"/>
          </a:p>
          <a:p>
            <a:pPr algn="l" marL="243840" indent="-243840">
              <a:lnSpc>
                <a:spcPct val="122000"/>
              </a:lnSpc>
              <a:buSzPct val="100000"/>
              <a:buChar char="•"/>
            </a:pPr>
            <a:r>
              <a:rPr lang="en-US" sz="12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Podcast behind the scenes</a:t>
            </a:r>
            <a:endParaRPr lang="en-US" sz="1200" dirty="0"/>
          </a:p>
          <a:p>
            <a:pPr algn="l" marL="243840" indent="-243840">
              <a:lnSpc>
                <a:spcPct val="122000"/>
              </a:lnSpc>
              <a:buSzPct val="100000"/>
              <a:buChar char="•"/>
            </a:pPr>
            <a:r>
              <a:rPr lang="en-US" sz="12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Q&amp;A box</a:t>
            </a:r>
            <a:endParaRPr lang="en-US" sz="1200" dirty="0"/>
          </a:p>
          <a:p>
            <a:pPr algn="l" marL="243840" indent="-243840">
              <a:lnSpc>
                <a:spcPct val="122000"/>
              </a:lnSpc>
              <a:buSzPct val="100000"/>
              <a:buChar char="•"/>
            </a:pPr>
            <a:r>
              <a:rPr lang="en-US" sz="12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Training while travelling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95074" y="1490464"/>
            <a:ext cx="5241496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Production System</a:t>
            </a:r>
            <a:endParaRPr lang="en-US" sz="15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95074" y="1886446"/>
            <a:ext cx="2554620" cy="166330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48472" y="2063651"/>
            <a:ext cx="2124022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Batch Filming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6548472" y="2443063"/>
            <a:ext cx="2124022" cy="929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One 90-minute weekly session, change T-shirts between takes → 6 Reels (4 published, 2 banked)</a:t>
            </a:r>
            <a:endParaRPr lang="en-US" sz="12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81950" y="1886446"/>
            <a:ext cx="2554620" cy="16633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235348" y="2063651"/>
            <a:ext cx="2124022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Better Editing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9235348" y="2443063"/>
            <a:ext cx="2124022" cy="697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Burned-in Arabic captions, punch-in zooms, numbers in Ember</a:t>
            </a:r>
            <a:endParaRPr lang="en-US" sz="12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95074" y="3682008"/>
            <a:ext cx="2554620" cy="143093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548472" y="3859212"/>
            <a:ext cx="2124022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Hashtags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6548472" y="4238625"/>
            <a:ext cx="2124022" cy="464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Exactly five per post, matched to the pillar</a:t>
            </a:r>
            <a:endParaRPr lang="en-US" sz="12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81950" y="3682008"/>
            <a:ext cx="2554620" cy="143093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235348" y="3859212"/>
            <a:ext cx="2124022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Caption Formula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9235348" y="4238625"/>
            <a:ext cx="2124022" cy="697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Hook · the specific thing with a number · CTA keyword · one real question · five hashtags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295074" y="5261769"/>
            <a:ext cx="5241496" cy="781844"/>
          </a:xfrm>
          <a:prstGeom prst="roundRect">
            <a:avLst>
              <a:gd name="adj" fmla="val 3034"/>
            </a:avLst>
          </a:prstGeom>
          <a:solidFill>
            <a:srgbClr val="450707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3224" y="5472906"/>
            <a:ext cx="197639" cy="15815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809014" y="5420320"/>
            <a:ext cx="4569405" cy="464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Stop immediately:</a:t>
            </a:r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reposted voiceovers · silent gym montages · clips under 10 seconds · follow-for-follow.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2116"/>
            <a:ext cx="10868745" cy="359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Growth Plays</a:t>
            </a:r>
            <a:endParaRPr lang="en-US" sz="2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081584"/>
            <a:ext cx="4631316" cy="2894608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054872"/>
            <a:ext cx="287529" cy="28753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61475" y="4429919"/>
            <a:ext cx="3564543" cy="179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Two Client Cases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661475" y="4651573"/>
            <a:ext cx="3564543" cy="443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ar-SA" altLang="en-US" sz="900" dirty="0">
                <a:solidFill>
                  <a:srgbClr val="BDA1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Hint → build evidence in the CRM → written consent → reveal. Timing is driven by real results, not a date. Then the website's نتائج section goes live.</a:t>
            </a:r>
            <a:endParaRPr lang="ar-SA" sz="9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13526" y="4054872"/>
            <a:ext cx="287529" cy="28753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313526" y="4429919"/>
            <a:ext cx="3564543" cy="179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Podcast Host with Well-Known Guests</a:t>
            </a:r>
            <a:endParaRPr lang="en-US" sz="1100" dirty="0"/>
          </a:p>
        </p:txBody>
      </p:sp>
      <p:sp>
        <p:nvSpPr>
          <p:cNvPr id="9" name="Text 4"/>
          <p:cNvSpPr/>
          <p:nvPr/>
        </p:nvSpPr>
        <p:spPr>
          <a:xfrm>
            <a:off x="4313526" y="4651573"/>
            <a:ext cx="3564543" cy="295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Successful people and the price their bodies paid. One episode a month; each yields 4–6 spoken Reels and a collab post.</a:t>
            </a:r>
            <a:endParaRPr lang="en-US" sz="9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65578" y="4054872"/>
            <a:ext cx="287529" cy="28753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965578" y="4429919"/>
            <a:ext cx="3564543" cy="179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ar-SA" altLang="en-US" sz="1100" dirty="0">
                <a:solidFill>
                  <a:srgbClr val="BDA1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Serialised Transformation · المسلسل</a:t>
            </a:r>
            <a:endParaRPr lang="ar-SA" sz="1100" dirty="0"/>
          </a:p>
        </p:txBody>
      </p:sp>
      <p:sp>
        <p:nvSpPr>
          <p:cNvPr id="12" name="Text 6"/>
          <p:cNvSpPr/>
          <p:nvPr/>
        </p:nvSpPr>
        <p:spPr>
          <a:xfrm>
            <a:off x="7965578" y="4651573"/>
            <a:ext cx="3564543" cy="295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ar-SA" altLang="en-US" sz="900" dirty="0">
                <a:solidFill>
                  <a:srgbClr val="BDA1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Road pillar as a 12-episode weekly series. "تابعني تشوف الحلقة الجاية" becomes an honest reason to follow.</a:t>
            </a:r>
            <a:endParaRPr lang="ar-SA" sz="9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1475" y="5235377"/>
            <a:ext cx="287529" cy="28753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61475" y="5610423"/>
            <a:ext cx="3564543" cy="179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Borrowed Audiences</a:t>
            </a:r>
            <a:endParaRPr lang="en-US" sz="1100" dirty="0"/>
          </a:p>
        </p:txBody>
      </p:sp>
      <p:sp>
        <p:nvSpPr>
          <p:cNvPr id="15" name="Text 8"/>
          <p:cNvSpPr/>
          <p:nvPr/>
        </p:nvSpPr>
        <p:spPr>
          <a:xfrm>
            <a:off x="661475" y="5832078"/>
            <a:ext cx="3564543" cy="295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SQUATWOLF feature or takeover · six podcast guest spots in six months · collabs with Riyadh gyms · joint content with his wife.</a:t>
            </a:r>
            <a:endParaRPr lang="en-US" sz="9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313526" y="5235377"/>
            <a:ext cx="287529" cy="287536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4313526" y="5610423"/>
            <a:ext cx="3564543" cy="179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Fix the Profile</a:t>
            </a:r>
            <a:endParaRPr lang="en-US" sz="1100" dirty="0"/>
          </a:p>
        </p:txBody>
      </p:sp>
      <p:sp>
        <p:nvSpPr>
          <p:cNvPr id="18" name="Text 10"/>
          <p:cNvSpPr/>
          <p:nvPr/>
        </p:nvSpPr>
        <p:spPr>
          <a:xfrm>
            <a:off x="4313526" y="5832078"/>
            <a:ext cx="3564543" cy="443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ar-SA" altLang="en-US" sz="900" dirty="0">
                <a:solidFill>
                  <a:srgbClr val="BDA1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Arabic name field وليد كتور | من 125 كيلو · new Arabic bio · website link · face-forward photo · pinned Reels · Highlights: قصتي · قبل وبعد · البروتوكول · خرافات · عائلتي</a:t>
            </a:r>
            <a:endParaRPr lang="ar-SA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9098"/>
            <a:ext cx="10868745" cy="371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Roadmap: 90 Days, Then 12 Months</a:t>
            </a:r>
            <a:endParaRPr lang="en-US" sz="2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080790"/>
          <a:ext cx="9143771" cy="914400"/>
        </p:xfrm>
        <a:graphic>
          <a:graphicData uri="http://schemas.openxmlformats.org/drawingml/2006/table">
            <a:tbl>
              <a:tblPr/>
              <a:tblGrid>
                <a:gridCol w="2717186"/>
                <a:gridCol w="2717186"/>
                <a:gridCol w="2717186"/>
                <a:gridCol w="2717186"/>
              </a:tblGrid>
              <a:tr h="2609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When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19023" marR="119023" marT="6350" marB="6350" anchor="ctr">
                    <a:lnL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48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48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Social Media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19023" marR="119023" marT="6350" marB="6350" anchor="ctr">
                    <a:lnL w="12700" cap="flat" cmpd="sng" algn="ctr">
                      <a:solidFill>
                        <a:srgbClr val="8448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48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48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Website + CRM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19023" marR="119023" marT="6350" marB="6350" anchor="ctr">
                    <a:lnL w="12700" cap="flat" cmpd="sng" algn="ctr">
                      <a:solidFill>
                        <a:srgbClr val="8448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48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48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Automation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19023" marR="119023" marT="6350" marB="6350" anchor="ctr">
                    <a:lnL w="12700" cap="flat" cmpd="sng" algn="ctr">
                      <a:solidFill>
                        <a:srgbClr val="8448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482D"/>
                    </a:solidFill>
                  </a:tcPr>
                </a:tc>
              </a:tr>
              <a:tr h="2641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Week 1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19023" marR="119023" marT="6350" marB="6350" anchor="ctr">
                    <a:lnL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Profile fixes, Insights baseline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19023" marR="119023" marT="6350" marB="6350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Discovery, pricing decision, design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19023" marR="119023" marT="6350" marB="6350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Channel build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19023" marR="119023" marT="6350" marB="6350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</a:tr>
              <a:tr h="2641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Weeks 2–4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19023" marR="119023" marT="6350" marB="6350" anchor="ctr">
                    <a:lnL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Full schedule live, series ep. 1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19023" marR="119023" marT="6350" marB="6350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Website and CRM build, forms drafted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19023" marR="119023" marT="6350" marB="6350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Comment-to-DM, tracked links, DM assistant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19023" marR="119023" marT="6350" marB="6350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</a:tr>
              <a:tr h="4192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Month 2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19023" marR="119023" marT="6350" marB="6350" anchor="ctr">
                    <a:lnL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First collab, podcast ep. 1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19023" marR="119023" marT="6350" marB="6350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Launch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, bio link switched, calendar live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19023" marR="119023" marT="6350" marB="6350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WhatsApp assistant, booking flow, reminders, PDFs, renewals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19023" marR="119023" marT="6350" marB="6350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</a:tr>
              <a:tr h="4161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Month 3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19023" marR="119023" marT="6350" marB="6350" anchor="ctr">
                    <a:lnL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Review slots and pillars against data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19023" marR="119023" marT="6350" marB="6350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Improvements; results section prepared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19023" marR="119023" marT="6350" marB="6350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InBody reading, monthly report, AI plan builder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19023" marR="119023" marT="6350" marB="6350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8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61475" y="2830513"/>
            <a:ext cx="10868745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The 12-Month Ladder (a target, not a guarantee)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6089498" y="3128963"/>
            <a:ext cx="12700" cy="2761952"/>
          </a:xfrm>
          <a:prstGeom prst="roundRect">
            <a:avLst>
              <a:gd name="adj" fmla="val 49999"/>
            </a:avLst>
          </a:prstGeom>
          <a:solidFill>
            <a:srgbClr val="595B5E"/>
          </a:solidFill>
          <a:ln/>
        </p:spPr>
      </p:sp>
      <p:sp>
        <p:nvSpPr>
          <p:cNvPr id="6" name="Shape 3"/>
          <p:cNvSpPr/>
          <p:nvPr/>
        </p:nvSpPr>
        <p:spPr>
          <a:xfrm>
            <a:off x="5870527" y="3256459"/>
            <a:ext cx="238020" cy="12700"/>
          </a:xfrm>
          <a:prstGeom prst="roundRect">
            <a:avLst>
              <a:gd name="adj" fmla="val 49999"/>
            </a:avLst>
          </a:prstGeom>
          <a:solidFill>
            <a:srgbClr val="595B5E"/>
          </a:solidFill>
          <a:ln/>
        </p:spPr>
      </p:sp>
      <p:sp>
        <p:nvSpPr>
          <p:cNvPr id="7" name="Shape 4"/>
          <p:cNvSpPr/>
          <p:nvPr/>
        </p:nvSpPr>
        <p:spPr>
          <a:xfrm>
            <a:off x="6051250" y="3218210"/>
            <a:ext cx="89195" cy="89198"/>
          </a:xfrm>
          <a:prstGeom prst="ellipse">
            <a:avLst/>
          </a:prstGeom>
          <a:solidFill>
            <a:srgbClr val="84482D"/>
          </a:solidFill>
          <a:ln/>
        </p:spPr>
      </p:sp>
      <p:sp>
        <p:nvSpPr>
          <p:cNvPr id="8" name="Text 5"/>
          <p:cNvSpPr/>
          <p:nvPr/>
        </p:nvSpPr>
        <p:spPr>
          <a:xfrm>
            <a:off x="661475" y="3169841"/>
            <a:ext cx="495833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M1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61475" y="3400822"/>
            <a:ext cx="4958333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9000"/>
              </a:lnSpc>
              <a:buNone/>
            </a:pPr>
            <a:r>
              <a:rPr lang="en-US" sz="9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Format fixed, 1,500 median views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083148" y="3882330"/>
            <a:ext cx="238020" cy="12700"/>
          </a:xfrm>
          <a:prstGeom prst="roundRect">
            <a:avLst>
              <a:gd name="adj" fmla="val 49999"/>
            </a:avLst>
          </a:prstGeom>
          <a:solidFill>
            <a:srgbClr val="595B5E"/>
          </a:solidFill>
          <a:ln/>
        </p:spPr>
      </p:sp>
      <p:sp>
        <p:nvSpPr>
          <p:cNvPr id="11" name="Shape 8"/>
          <p:cNvSpPr/>
          <p:nvPr/>
        </p:nvSpPr>
        <p:spPr>
          <a:xfrm>
            <a:off x="6051250" y="3844082"/>
            <a:ext cx="89195" cy="89198"/>
          </a:xfrm>
          <a:prstGeom prst="ellipse">
            <a:avLst/>
          </a:prstGeom>
          <a:solidFill>
            <a:srgbClr val="84482D"/>
          </a:solidFill>
          <a:ln/>
        </p:spPr>
      </p:sp>
      <p:sp>
        <p:nvSpPr>
          <p:cNvPr id="12" name="Text 9"/>
          <p:cNvSpPr/>
          <p:nvPr/>
        </p:nvSpPr>
        <p:spPr>
          <a:xfrm>
            <a:off x="6571887" y="3795713"/>
            <a:ext cx="495833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M3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571887" y="4026694"/>
            <a:ext cx="4958333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3,000–5,000 followers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870527" y="4453731"/>
            <a:ext cx="238020" cy="12700"/>
          </a:xfrm>
          <a:prstGeom prst="roundRect">
            <a:avLst>
              <a:gd name="adj" fmla="val 49999"/>
            </a:avLst>
          </a:prstGeom>
          <a:solidFill>
            <a:srgbClr val="595B5E"/>
          </a:solidFill>
          <a:ln/>
        </p:spPr>
      </p:sp>
      <p:sp>
        <p:nvSpPr>
          <p:cNvPr id="15" name="Shape 12"/>
          <p:cNvSpPr/>
          <p:nvPr/>
        </p:nvSpPr>
        <p:spPr>
          <a:xfrm>
            <a:off x="6051250" y="4415482"/>
            <a:ext cx="89195" cy="89198"/>
          </a:xfrm>
          <a:prstGeom prst="ellipse">
            <a:avLst/>
          </a:prstGeom>
          <a:solidFill>
            <a:srgbClr val="84482D"/>
          </a:solidFill>
          <a:ln/>
        </p:spPr>
      </p:sp>
      <p:sp>
        <p:nvSpPr>
          <p:cNvPr id="16" name="Text 13"/>
          <p:cNvSpPr/>
          <p:nvPr/>
        </p:nvSpPr>
        <p:spPr>
          <a:xfrm>
            <a:off x="661475" y="4367113"/>
            <a:ext cx="495833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M6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61475" y="4598095"/>
            <a:ext cx="4958333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9000"/>
              </a:lnSpc>
              <a:buNone/>
            </a:pPr>
            <a:r>
              <a:rPr lang="en-US" sz="9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10,000–15,000 followers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083148" y="5025231"/>
            <a:ext cx="238020" cy="12700"/>
          </a:xfrm>
          <a:prstGeom prst="roundRect">
            <a:avLst>
              <a:gd name="adj" fmla="val 49999"/>
            </a:avLst>
          </a:prstGeom>
          <a:solidFill>
            <a:srgbClr val="595B5E"/>
          </a:solidFill>
          <a:ln/>
        </p:spPr>
      </p:sp>
      <p:sp>
        <p:nvSpPr>
          <p:cNvPr id="19" name="Shape 16"/>
          <p:cNvSpPr/>
          <p:nvPr/>
        </p:nvSpPr>
        <p:spPr>
          <a:xfrm>
            <a:off x="6051250" y="4986982"/>
            <a:ext cx="89195" cy="89198"/>
          </a:xfrm>
          <a:prstGeom prst="ellipse">
            <a:avLst/>
          </a:prstGeom>
          <a:solidFill>
            <a:srgbClr val="84482D"/>
          </a:solidFill>
          <a:ln/>
        </p:spPr>
      </p:sp>
      <p:sp>
        <p:nvSpPr>
          <p:cNvPr id="20" name="Text 17"/>
          <p:cNvSpPr/>
          <p:nvPr/>
        </p:nvSpPr>
        <p:spPr>
          <a:xfrm>
            <a:off x="6571887" y="4938613"/>
            <a:ext cx="495833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M12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6571887" y="5169595"/>
            <a:ext cx="4958333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30,000+ and inbound brand deals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39965" y="6059388"/>
            <a:ext cx="11299840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Months 1–2 will feel like nothing is happening. That is when most people quit, and it's the stretch that decides the outcome.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61475" y="5975152"/>
            <a:ext cx="12700" cy="323652"/>
          </a:xfrm>
          <a:prstGeom prst="roundRect">
            <a:avLst>
              <a:gd name="adj" fmla="val 49999"/>
            </a:avLst>
          </a:prstGeom>
          <a:solidFill>
            <a:srgbClr val="84482D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51768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Measurement, Guardrails &amp; Next Steps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61475" y="1235273"/>
            <a:ext cx="6959724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Funnel We Report Monthly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9454" y="1517055"/>
            <a:ext cx="4523766" cy="24720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475981" y="2675350"/>
            <a:ext cx="1048196" cy="142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Leads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122854" y="2659266"/>
            <a:ext cx="1048196" cy="142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Calls Booked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3829841" y="2664416"/>
            <a:ext cx="1048195" cy="142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Clients Closed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61475" y="4078883"/>
            <a:ext cx="756930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Monthly report + 30-minute review: keep, change, stop.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61475" y="4320778"/>
            <a:ext cx="6959724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Guardrails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8775" y="4589859"/>
            <a:ext cx="2266000" cy="7835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09704" y="4602559"/>
            <a:ext cx="2105072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The Medical Line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809704" y="4874320"/>
            <a:ext cx="2105072" cy="486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 medical claims, no supplement protocols, no calorie prescriptions. The back story is told as story only.</a:t>
            </a:r>
            <a:endParaRPr lang="en-US" sz="9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01887" y="4589859"/>
            <a:ext cx="2266100" cy="78353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162816" y="4602559"/>
            <a:ext cx="2105171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His Dialect, Not Ours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3162816" y="4874320"/>
            <a:ext cx="2105171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Waleed reads every Arabic line aloud before it goes public.</a:t>
            </a:r>
            <a:endParaRPr lang="en-US" sz="9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55099" y="4589859"/>
            <a:ext cx="2266000" cy="78353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516028" y="4602559"/>
            <a:ext cx="2105072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Consent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5516028" y="4874320"/>
            <a:ext cx="2105072" cy="486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Client photos published only with separate written permission, withdrawable.</a:t>
            </a:r>
            <a:endParaRPr lang="en-US" sz="9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8775" y="5507633"/>
            <a:ext cx="2266000" cy="621407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09704" y="5520333"/>
            <a:ext cx="2105072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Client Data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809704" y="5792093"/>
            <a:ext cx="2105072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Saudi PDPL, encrypted, access-limited.</a:t>
            </a:r>
            <a:endParaRPr lang="en-US" sz="95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001887" y="5507633"/>
            <a:ext cx="2266100" cy="621407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3162816" y="5520333"/>
            <a:ext cx="2105171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Platform Rules</a:t>
            </a:r>
            <a:endParaRPr lang="en-US" sz="1200" dirty="0"/>
          </a:p>
        </p:txBody>
      </p:sp>
      <p:sp>
        <p:nvSpPr>
          <p:cNvPr id="24" name="Text 16"/>
          <p:cNvSpPr/>
          <p:nvPr/>
        </p:nvSpPr>
        <p:spPr>
          <a:xfrm>
            <a:off x="3162816" y="5792093"/>
            <a:ext cx="2105171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Meta-approved templates, opt-in, no mass unsolicited DMs.</a:t>
            </a:r>
            <a:endParaRPr lang="en-US" sz="95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355099" y="5507633"/>
            <a:ext cx="2266000" cy="621407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5516028" y="5520333"/>
            <a:ext cx="2105072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Honest Numbers</a:t>
            </a:r>
            <a:endParaRPr lang="en-US" sz="1200" dirty="0"/>
          </a:p>
        </p:txBody>
      </p:sp>
      <p:sp>
        <p:nvSpPr>
          <p:cNvPr id="27" name="Text 18"/>
          <p:cNvSpPr/>
          <p:nvPr/>
        </p:nvSpPr>
        <p:spPr>
          <a:xfrm>
            <a:off x="5516028" y="5792093"/>
            <a:ext cx="2105072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Every public claim is true and checkable.</a:t>
            </a:r>
            <a:endParaRPr lang="en-US" sz="950" dirty="0"/>
          </a:p>
        </p:txBody>
      </p:sp>
      <p:sp>
        <p:nvSpPr>
          <p:cNvPr id="28" name="Text 19"/>
          <p:cNvSpPr/>
          <p:nvPr/>
        </p:nvSpPr>
        <p:spPr>
          <a:xfrm>
            <a:off x="7927181" y="1825427"/>
            <a:ext cx="360928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Decisions to Confirm Before Launch</a:t>
            </a:r>
            <a:endParaRPr lang="en-US" sz="1200" dirty="0"/>
          </a:p>
        </p:txBody>
      </p:sp>
      <p:sp>
        <p:nvSpPr>
          <p:cNvPr id="29" name="Text 20"/>
          <p:cNvSpPr/>
          <p:nvPr/>
        </p:nvSpPr>
        <p:spPr>
          <a:xfrm>
            <a:off x="7927181" y="2097187"/>
            <a:ext cx="3609289" cy="241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10000"/>
              </a:lnSpc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Years in the events industry: 10 or 20?</a:t>
            </a:r>
            <a:endParaRPr lang="en-US" sz="950" dirty="0"/>
          </a:p>
          <a:p>
            <a:pPr algn="l" marL="193040" indent="-193040">
              <a:lnSpc>
                <a:spcPct val="110000"/>
              </a:lnSpc>
              <a:buSzPct val="100000"/>
              <a:buFont typeface="+mj-lt"/>
              <a:buAutoNum type="arabicPeriod" startAt="2"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His age on his first day back at the gym</a:t>
            </a:r>
            <a:endParaRPr lang="en-US" sz="950" dirty="0"/>
          </a:p>
          <a:p>
            <a:pPr algn="l" marL="193040" indent="-193040">
              <a:lnSpc>
                <a:spcPct val="110000"/>
              </a:lnSpc>
              <a:buSzPct val="100000"/>
              <a:buFont typeface="+mj-lt"/>
              <a:buAutoNum type="arabicPeriod" startAt="3"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Show the price on the website, or book a call?</a:t>
            </a:r>
            <a:endParaRPr lang="en-US" sz="950" dirty="0"/>
          </a:p>
          <a:p>
            <a:pPr algn="l" marL="193040" indent="-193040">
              <a:lnSpc>
                <a:spcPct val="110000"/>
              </a:lnSpc>
              <a:buSzPct val="100000"/>
              <a:buFont typeface="+mj-lt"/>
              <a:buAutoNum type="arabicPeriod" startAt="4"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two client cases: who, and will they consent?</a:t>
            </a:r>
            <a:endParaRPr lang="en-US" sz="950" dirty="0"/>
          </a:p>
          <a:p>
            <a:pPr algn="l" marL="193040" indent="-193040">
              <a:lnSpc>
                <a:spcPct val="110000"/>
              </a:lnSpc>
              <a:buSzPct val="100000"/>
              <a:buFont typeface="+mj-lt"/>
              <a:buAutoNum type="arabicPeriod" startAt="5"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Can he film one 90-minute session every week?</a:t>
            </a:r>
            <a:endParaRPr lang="en-US" sz="950" dirty="0"/>
          </a:p>
          <a:p>
            <a:pPr algn="l" marL="193040" indent="-193040">
              <a:lnSpc>
                <a:spcPct val="110000"/>
              </a:lnSpc>
              <a:buSzPct val="100000"/>
              <a:buFont typeface="+mj-lt"/>
              <a:buAutoNum type="arabicPeriod" startAt="6"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Keep the Sunday slot for four weeks?</a:t>
            </a:r>
            <a:endParaRPr lang="en-US" sz="950" dirty="0"/>
          </a:p>
          <a:p>
            <a:pPr algn="l" marL="193040" indent="-193040">
              <a:lnSpc>
                <a:spcPct val="110000"/>
              </a:lnSpc>
              <a:buSzPct val="100000"/>
              <a:buFont typeface="+mj-lt"/>
              <a:buAutoNum type="arabicPeriod" startAt="7"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Weekly link: check-in form (recommended) or full registration?</a:t>
            </a:r>
            <a:endParaRPr lang="en-US" sz="950" dirty="0"/>
          </a:p>
          <a:p>
            <a:pPr algn="l" marL="193040" indent="-193040">
              <a:lnSpc>
                <a:spcPct val="110000"/>
              </a:lnSpc>
              <a:buSzPct val="100000"/>
              <a:buFont typeface="+mj-lt"/>
              <a:buAutoNum type="arabicPeriod" startAt="8"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His assistant on Telegram, WhatsApp, or both?</a:t>
            </a:r>
            <a:endParaRPr lang="en-US" sz="950" dirty="0"/>
          </a:p>
          <a:p>
            <a:pPr algn="l" marL="193040" indent="-193040">
              <a:lnSpc>
                <a:spcPct val="110000"/>
              </a:lnSpc>
              <a:buSzPct val="100000"/>
              <a:buFont typeface="+mj-lt"/>
              <a:buAutoNum type="arabicPeriod" startAt="9"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 clients have access to InBody scans?</a:t>
            </a:r>
            <a:endParaRPr lang="en-US" sz="950" dirty="0"/>
          </a:p>
          <a:p>
            <a:pPr algn="l" marL="193040" indent="-193040">
              <a:lnSpc>
                <a:spcPct val="110000"/>
              </a:lnSpc>
              <a:buSzPct val="100000"/>
              <a:buFont typeface="+mj-lt"/>
              <a:buAutoNum type="arabicPeriod" startAt="10"/>
            </a:pPr>
            <a:r>
              <a:rPr lang="ar-SA" altLang="en-US" sz="950" dirty="0">
                <a:solidFill>
                  <a:srgbClr val="BDA1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Myth M2: «الكرش وراثة»?</a:t>
            </a:r>
            <a:endParaRPr lang="en-US" sz="950" dirty="0"/>
          </a:p>
          <a:p>
            <a:pPr algn="l" marL="193040" indent="-193040">
              <a:lnSpc>
                <a:spcPct val="110000"/>
              </a:lnSpc>
              <a:buSzPct val="100000"/>
              <a:buFont typeface="+mj-lt"/>
              <a:buAutoNum type="arabicPeriod" startAt="11"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Podcast name, first guests, recording location</a:t>
            </a:r>
            <a:endParaRPr lang="en-US" sz="950" dirty="0"/>
          </a:p>
          <a:p>
            <a:pPr algn="l" marL="193040" indent="-193040">
              <a:lnSpc>
                <a:spcPct val="110000"/>
              </a:lnSpc>
              <a:buSzPct val="100000"/>
              <a:buFont typeface="+mj-lt"/>
              <a:buAutoNum type="arabicPeriod" startAt="12"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Access: Instagram Insights, Meta Business Suite, calendar</a:t>
            </a:r>
            <a:endParaRPr lang="en-US" sz="950" dirty="0"/>
          </a:p>
        </p:txBody>
      </p:sp>
      <p:sp>
        <p:nvSpPr>
          <p:cNvPr id="30" name="Shape 21"/>
          <p:cNvSpPr/>
          <p:nvPr/>
        </p:nvSpPr>
        <p:spPr>
          <a:xfrm>
            <a:off x="7927181" y="4601270"/>
            <a:ext cx="3609289" cy="529233"/>
          </a:xfrm>
          <a:prstGeom prst="roundRect">
            <a:avLst>
              <a:gd name="adj" fmla="val 3482"/>
            </a:avLst>
          </a:prstGeom>
          <a:solidFill>
            <a:srgbClr val="5F3420"/>
          </a:solidFill>
          <a:ln/>
        </p:spPr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50011" y="4731147"/>
            <a:ext cx="153488" cy="122833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8326328" y="4703763"/>
            <a:ext cx="3087313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Next step: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answer these in week 1, grant access, and book the first filming session.</a:t>
            </a:r>
            <a:endParaRPr lang="en-US" sz="950" dirty="0"/>
          </a:p>
        </p:txBody>
      </p:sp>
      <p:sp>
        <p:nvSpPr>
          <p:cNvPr id="33" name="Text 23"/>
          <p:cNvSpPr/>
          <p:nvPr/>
        </p:nvSpPr>
        <p:spPr>
          <a:xfrm>
            <a:off x="7317597" y="5292130"/>
            <a:ext cx="403463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SA" altLang="en-US" sz="950" b="1" dirty="0">
                <a:solidFill>
                  <a:srgbClr val="BDA1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ولما تكسبها، بتصير ملك الدنيا.</a:t>
            </a:r>
            <a:endParaRPr lang="ar-SA" sz="950" dirty="0"/>
          </a:p>
        </p:txBody>
      </p:sp>
      <p:sp>
        <p:nvSpPr>
          <p:cNvPr id="34" name="Shape 24"/>
          <p:cNvSpPr/>
          <p:nvPr/>
        </p:nvSpPr>
        <p:spPr>
          <a:xfrm>
            <a:off x="11523771" y="5220295"/>
            <a:ext cx="12700" cy="305792"/>
          </a:xfrm>
          <a:prstGeom prst="roundRect">
            <a:avLst>
              <a:gd name="adj" fmla="val 49999"/>
            </a:avLst>
          </a:prstGeom>
          <a:solidFill>
            <a:srgbClr val="84482D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2026-09-21T09:30:58Z</dcterms:created>
  <dcterms:modified xsi:type="dcterms:W3CDTF">2026-09-21T09:30:58Z</dcterms:modified>
</cp:coreProperties>
</file>